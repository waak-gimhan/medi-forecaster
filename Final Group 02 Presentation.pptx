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20"/>
  </p:notesMasterIdLst>
  <p:sldIdLst>
    <p:sldId id="256" r:id="rId5"/>
    <p:sldId id="266" r:id="rId6"/>
    <p:sldId id="258" r:id="rId7"/>
    <p:sldId id="267" r:id="rId8"/>
    <p:sldId id="257" r:id="rId9"/>
    <p:sldId id="259" r:id="rId10"/>
    <p:sldId id="269" r:id="rId11"/>
    <p:sldId id="261" r:id="rId12"/>
    <p:sldId id="271" r:id="rId13"/>
    <p:sldId id="277" r:id="rId14"/>
    <p:sldId id="272" r:id="rId15"/>
    <p:sldId id="273" r:id="rId16"/>
    <p:sldId id="275" r:id="rId17"/>
    <p:sldId id="276" r:id="rId18"/>
    <p:sldId id="265" r:id="rId19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E6DE"/>
    <a:srgbClr val="232C12"/>
    <a:srgbClr val="556A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BB5CD6-3256-6DEF-701C-2B373E9DDC3E}" v="47" dt="2026-10-06T14:02:54.400"/>
    <p1510:client id="{D94CBFD1-53C0-6280-3D0E-CE0E9001FA7A}" v="229" dt="2026-10-06T18:31:46.982"/>
    <p1510:client id="{FBC6A5A3-4242-040B-0AB1-4FEACD366A7D}" v="27" dt="2026-10-07T08:28:38.5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AE7F67-0197-49B3-861C-F587BEAB4A3C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721D64-33EE-4C53-8FFC-850FD6471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520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721D64-33EE-4C53-8FFC-850FD647146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893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721D64-33EE-4C53-8FFC-850FD647146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7984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721D64-33EE-4C53-8FFC-850FD647146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1918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721D64-33EE-4C53-8FFC-850FD647146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6160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721D64-33EE-4C53-8FFC-850FD647146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5746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721D64-33EE-4C53-8FFC-850FD647146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0257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Member 2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721D64-33EE-4C53-8FFC-850FD647146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3543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Member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721D64-33EE-4C53-8FFC-850FD647146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8305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Member 2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721D64-33EE-4C53-8FFC-850FD647146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7668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Member 3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721D64-33EE-4C53-8FFC-850FD647146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0091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Member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721D64-33EE-4C53-8FFC-850FD647146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0048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Member 3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721D64-33EE-4C53-8FFC-850FD647146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5164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Member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721D64-33EE-4C53-8FFC-850FD647146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5917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Member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721D64-33EE-4C53-8FFC-850FD647146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7737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Member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721D64-33EE-4C53-8FFC-850FD647146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851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E6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2"/>
          <p:cNvGrpSpPr/>
          <p:nvPr/>
        </p:nvGrpSpPr>
        <p:grpSpPr>
          <a:xfrm>
            <a:off x="12921927" y="7353300"/>
            <a:ext cx="6598056" cy="8409056"/>
            <a:chOff x="0" y="0"/>
            <a:chExt cx="633777" cy="807720"/>
          </a:xfrm>
        </p:grpSpPr>
        <p:sp>
          <p:nvSpPr>
            <p:cNvPr id="13" name="Freeform 13"/>
            <p:cNvSpPr/>
            <p:nvPr/>
          </p:nvSpPr>
          <p:spPr>
            <a:xfrm>
              <a:off x="0" y="15874"/>
              <a:ext cx="633777" cy="774701"/>
            </a:xfrm>
            <a:custGeom>
              <a:avLst/>
              <a:gdLst/>
              <a:ahLst/>
              <a:cxnLst/>
              <a:rect l="l" t="t" r="r" b="b"/>
              <a:pathLst>
                <a:path w="633777" h="774701">
                  <a:moveTo>
                    <a:pt x="362809" y="13388"/>
                  </a:moveTo>
                  <a:lnTo>
                    <a:pt x="587856" y="156794"/>
                  </a:lnTo>
                  <a:cubicBezTo>
                    <a:pt x="616460" y="175021"/>
                    <a:pt x="633777" y="206590"/>
                    <a:pt x="633777" y="240507"/>
                  </a:cubicBezTo>
                  <a:lnTo>
                    <a:pt x="633777" y="534195"/>
                  </a:lnTo>
                  <a:cubicBezTo>
                    <a:pt x="633777" y="568112"/>
                    <a:pt x="616460" y="599681"/>
                    <a:pt x="587856" y="617908"/>
                  </a:cubicBezTo>
                  <a:lnTo>
                    <a:pt x="362809" y="761314"/>
                  </a:lnTo>
                  <a:cubicBezTo>
                    <a:pt x="334797" y="779164"/>
                    <a:pt x="298980" y="779164"/>
                    <a:pt x="270968" y="761314"/>
                  </a:cubicBezTo>
                  <a:lnTo>
                    <a:pt x="45921" y="617908"/>
                  </a:lnTo>
                  <a:cubicBezTo>
                    <a:pt x="17317" y="599681"/>
                    <a:pt x="0" y="568112"/>
                    <a:pt x="0" y="534195"/>
                  </a:cubicBezTo>
                  <a:lnTo>
                    <a:pt x="0" y="240507"/>
                  </a:lnTo>
                  <a:cubicBezTo>
                    <a:pt x="0" y="206590"/>
                    <a:pt x="17317" y="175021"/>
                    <a:pt x="45921" y="156794"/>
                  </a:cubicBezTo>
                  <a:lnTo>
                    <a:pt x="270968" y="13388"/>
                  </a:lnTo>
                  <a:cubicBezTo>
                    <a:pt x="298980" y="-4462"/>
                    <a:pt x="334797" y="-4462"/>
                    <a:pt x="362809" y="13388"/>
                  </a:cubicBezTo>
                  <a:close/>
                </a:path>
              </a:pathLst>
            </a:custGeom>
            <a:ln w="600075" cap="rnd">
              <a:solidFill>
                <a:srgbClr val="2E6417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5032" y="109645"/>
              <a:ext cx="463712" cy="549099"/>
            </a:xfrm>
            <a:prstGeom prst="rect">
              <a:avLst/>
            </a:prstGeom>
          </p:spPr>
          <p:txBody>
            <a:bodyPr lIns="48041" tIns="48041" rIns="48041" bIns="48041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" name="Group 2"/>
          <p:cNvGrpSpPr/>
          <p:nvPr/>
        </p:nvGrpSpPr>
        <p:grpSpPr>
          <a:xfrm>
            <a:off x="12236088" y="1683224"/>
            <a:ext cx="7271869" cy="8409056"/>
            <a:chOff x="0" y="0"/>
            <a:chExt cx="698500" cy="807720"/>
          </a:xfrm>
        </p:grpSpPr>
        <p:sp>
          <p:nvSpPr>
            <p:cNvPr id="3" name="Freeform 3"/>
            <p:cNvSpPr/>
            <p:nvPr/>
          </p:nvSpPr>
          <p:spPr>
            <a:xfrm>
              <a:off x="0" y="13255"/>
              <a:ext cx="698500" cy="779940"/>
            </a:xfrm>
            <a:custGeom>
              <a:avLst/>
              <a:gdLst/>
              <a:ahLst/>
              <a:cxnLst/>
              <a:rect l="l" t="t" r="r" b="b"/>
              <a:pathLst>
                <a:path w="698500" h="779940">
                  <a:moveTo>
                    <a:pt x="392021" y="11475"/>
                  </a:moveTo>
                  <a:lnTo>
                    <a:pt x="655729" y="163945"/>
                  </a:lnTo>
                  <a:cubicBezTo>
                    <a:pt x="682198" y="179250"/>
                    <a:pt x="698500" y="207505"/>
                    <a:pt x="698500" y="238081"/>
                  </a:cubicBezTo>
                  <a:lnTo>
                    <a:pt x="698500" y="541859"/>
                  </a:lnTo>
                  <a:cubicBezTo>
                    <a:pt x="698500" y="572434"/>
                    <a:pt x="682198" y="600690"/>
                    <a:pt x="655729" y="615995"/>
                  </a:cubicBezTo>
                  <a:lnTo>
                    <a:pt x="392021" y="768465"/>
                  </a:lnTo>
                  <a:cubicBezTo>
                    <a:pt x="365559" y="783765"/>
                    <a:pt x="332941" y="783765"/>
                    <a:pt x="306479" y="768465"/>
                  </a:cubicBezTo>
                  <a:lnTo>
                    <a:pt x="42771" y="615995"/>
                  </a:lnTo>
                  <a:cubicBezTo>
                    <a:pt x="16302" y="600690"/>
                    <a:pt x="0" y="572434"/>
                    <a:pt x="0" y="541859"/>
                  </a:cubicBezTo>
                  <a:lnTo>
                    <a:pt x="0" y="238081"/>
                  </a:lnTo>
                  <a:cubicBezTo>
                    <a:pt x="0" y="207505"/>
                    <a:pt x="16302" y="179250"/>
                    <a:pt x="42771" y="163945"/>
                  </a:cubicBezTo>
                  <a:lnTo>
                    <a:pt x="306479" y="11475"/>
                  </a:lnTo>
                  <a:cubicBezTo>
                    <a:pt x="332941" y="-3825"/>
                    <a:pt x="365559" y="-3825"/>
                    <a:pt x="392021" y="11475"/>
                  </a:cubicBezTo>
                  <a:close/>
                </a:path>
              </a:pathLst>
            </a:custGeom>
            <a:solidFill>
              <a:srgbClr val="88A20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3716" y="109645"/>
              <a:ext cx="511068" cy="549099"/>
            </a:xfrm>
            <a:prstGeom prst="rect">
              <a:avLst/>
            </a:prstGeom>
          </p:spPr>
          <p:txBody>
            <a:bodyPr lIns="48041" tIns="48041" rIns="48041" bIns="48041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889843" y="2563406"/>
            <a:ext cx="5964358" cy="6940344"/>
            <a:chOff x="0" y="0"/>
            <a:chExt cx="6985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16248"/>
              <a:ext cx="698500" cy="780303"/>
            </a:xfrm>
            <a:custGeom>
              <a:avLst/>
              <a:gdLst/>
              <a:ahLst/>
              <a:cxnLst/>
              <a:rect l="l" t="t" r="r" b="b"/>
              <a:pathLst>
                <a:path w="698500" h="780303">
                  <a:moveTo>
                    <a:pt x="401316" y="14045"/>
                  </a:moveTo>
                  <a:lnTo>
                    <a:pt x="646434" y="156659"/>
                  </a:lnTo>
                  <a:cubicBezTo>
                    <a:pt x="678669" y="175414"/>
                    <a:pt x="698500" y="209895"/>
                    <a:pt x="698500" y="247189"/>
                  </a:cubicBezTo>
                  <a:lnTo>
                    <a:pt x="698500" y="533115"/>
                  </a:lnTo>
                  <a:cubicBezTo>
                    <a:pt x="698500" y="570409"/>
                    <a:pt x="678669" y="604890"/>
                    <a:pt x="646434" y="623645"/>
                  </a:cubicBezTo>
                  <a:lnTo>
                    <a:pt x="401316" y="766259"/>
                  </a:lnTo>
                  <a:cubicBezTo>
                    <a:pt x="369131" y="784985"/>
                    <a:pt x="329369" y="784985"/>
                    <a:pt x="297184" y="766259"/>
                  </a:cubicBezTo>
                  <a:lnTo>
                    <a:pt x="52066" y="623645"/>
                  </a:lnTo>
                  <a:cubicBezTo>
                    <a:pt x="19831" y="604890"/>
                    <a:pt x="0" y="570409"/>
                    <a:pt x="0" y="533115"/>
                  </a:cubicBezTo>
                  <a:lnTo>
                    <a:pt x="0" y="247189"/>
                  </a:lnTo>
                  <a:cubicBezTo>
                    <a:pt x="0" y="209895"/>
                    <a:pt x="19831" y="175414"/>
                    <a:pt x="52066" y="156659"/>
                  </a:cubicBezTo>
                  <a:lnTo>
                    <a:pt x="297184" y="14045"/>
                  </a:lnTo>
                  <a:cubicBezTo>
                    <a:pt x="329369" y="-4681"/>
                    <a:pt x="369131" y="-4681"/>
                    <a:pt x="401316" y="14045"/>
                  </a:cubicBezTo>
                  <a:close/>
                </a:path>
              </a:pathLst>
            </a:custGeom>
            <a:blipFill>
              <a:blip r:embed="rId3"/>
              <a:stretch>
                <a:fillRect t="-17076" b="-1707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 rot="-118673">
            <a:off x="12921922" y="-6258731"/>
            <a:ext cx="6598056" cy="8409056"/>
            <a:chOff x="0" y="0"/>
            <a:chExt cx="633777" cy="807720"/>
          </a:xfrm>
        </p:grpSpPr>
        <p:sp>
          <p:nvSpPr>
            <p:cNvPr id="16" name="Freeform 16"/>
            <p:cNvSpPr/>
            <p:nvPr/>
          </p:nvSpPr>
          <p:spPr>
            <a:xfrm>
              <a:off x="0" y="15874"/>
              <a:ext cx="633777" cy="774701"/>
            </a:xfrm>
            <a:custGeom>
              <a:avLst/>
              <a:gdLst/>
              <a:ahLst/>
              <a:cxnLst/>
              <a:rect l="l" t="t" r="r" b="b"/>
              <a:pathLst>
                <a:path w="633777" h="774701">
                  <a:moveTo>
                    <a:pt x="362809" y="13388"/>
                  </a:moveTo>
                  <a:lnTo>
                    <a:pt x="587856" y="156794"/>
                  </a:lnTo>
                  <a:cubicBezTo>
                    <a:pt x="616460" y="175021"/>
                    <a:pt x="633777" y="206590"/>
                    <a:pt x="633777" y="240507"/>
                  </a:cubicBezTo>
                  <a:lnTo>
                    <a:pt x="633777" y="534195"/>
                  </a:lnTo>
                  <a:cubicBezTo>
                    <a:pt x="633777" y="568112"/>
                    <a:pt x="616460" y="599681"/>
                    <a:pt x="587856" y="617908"/>
                  </a:cubicBezTo>
                  <a:lnTo>
                    <a:pt x="362809" y="761314"/>
                  </a:lnTo>
                  <a:cubicBezTo>
                    <a:pt x="334797" y="779164"/>
                    <a:pt x="298980" y="779164"/>
                    <a:pt x="270968" y="761314"/>
                  </a:cubicBezTo>
                  <a:lnTo>
                    <a:pt x="45921" y="617908"/>
                  </a:lnTo>
                  <a:cubicBezTo>
                    <a:pt x="17317" y="599681"/>
                    <a:pt x="0" y="568112"/>
                    <a:pt x="0" y="534195"/>
                  </a:cubicBezTo>
                  <a:lnTo>
                    <a:pt x="0" y="240507"/>
                  </a:lnTo>
                  <a:cubicBezTo>
                    <a:pt x="0" y="206590"/>
                    <a:pt x="17317" y="175021"/>
                    <a:pt x="45921" y="156794"/>
                  </a:cubicBezTo>
                  <a:lnTo>
                    <a:pt x="270968" y="13388"/>
                  </a:lnTo>
                  <a:cubicBezTo>
                    <a:pt x="298980" y="-4462"/>
                    <a:pt x="334797" y="-4462"/>
                    <a:pt x="362809" y="13388"/>
                  </a:cubicBezTo>
                  <a:close/>
                </a:path>
              </a:pathLst>
            </a:custGeom>
            <a:ln w="600075" cap="rnd">
              <a:solidFill>
                <a:srgbClr val="2E6417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5032" y="109645"/>
              <a:ext cx="463712" cy="549099"/>
            </a:xfrm>
            <a:prstGeom prst="rect">
              <a:avLst/>
            </a:prstGeom>
          </p:spPr>
          <p:txBody>
            <a:bodyPr lIns="48041" tIns="48041" rIns="48041" bIns="48041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9" name="Freeform 4">
            <a:extLst>
              <a:ext uri="{FF2B5EF4-FFF2-40B4-BE49-F238E27FC236}">
                <a16:creationId xmlns:a16="http://schemas.microsoft.com/office/drawing/2014/main" id="{8B671915-8313-08C8-FBD5-2EE998F87D33}"/>
              </a:ext>
            </a:extLst>
          </p:cNvPr>
          <p:cNvSpPr/>
          <p:nvPr/>
        </p:nvSpPr>
        <p:spPr>
          <a:xfrm>
            <a:off x="4563835" y="698439"/>
            <a:ext cx="3938624" cy="2982851"/>
          </a:xfrm>
          <a:custGeom>
            <a:avLst/>
            <a:gdLst/>
            <a:ahLst/>
            <a:cxnLst/>
            <a:rect l="l" t="t" r="r" b="b"/>
            <a:pathLst>
              <a:path w="3938624" h="2982851">
                <a:moveTo>
                  <a:pt x="0" y="0"/>
                </a:moveTo>
                <a:lnTo>
                  <a:pt x="3938624" y="0"/>
                </a:lnTo>
                <a:lnTo>
                  <a:pt x="3938624" y="2982851"/>
                </a:lnTo>
                <a:lnTo>
                  <a:pt x="0" y="29828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001624A-3022-6E46-C071-235B6C3F6205}"/>
              </a:ext>
            </a:extLst>
          </p:cNvPr>
          <p:cNvSpPr txBox="1"/>
          <p:nvPr/>
        </p:nvSpPr>
        <p:spPr>
          <a:xfrm>
            <a:off x="1082870" y="3819265"/>
            <a:ext cx="11004207" cy="169373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>
              <a:lnSpc>
                <a:spcPts val="6555"/>
              </a:lnSpc>
            </a:pPr>
            <a:r>
              <a:rPr lang="en-US" sz="4000" b="1" spc="438">
                <a:solidFill>
                  <a:srgbClr val="000000"/>
                </a:solidFill>
                <a:latin typeface="Times New Roman"/>
                <a:ea typeface="Arvo"/>
                <a:cs typeface="Times New Roman"/>
                <a:sym typeface="Arvo"/>
              </a:rPr>
              <a:t>GENERAL SIR JOHN KOTELAWALA DEFENCE UNIVERSITY</a:t>
            </a:r>
            <a:endParaRPr lang="en-US" sz="4000" b="1" spc="438">
              <a:solidFill>
                <a:srgbClr val="000000"/>
              </a:solidFill>
              <a:latin typeface="Times New Roman"/>
              <a:ea typeface="Arvo"/>
              <a:cs typeface="Times New Roman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CB22A11-4CDE-CC4E-CEEA-95EA012D01CA}"/>
              </a:ext>
            </a:extLst>
          </p:cNvPr>
          <p:cNvSpPr txBox="1"/>
          <p:nvPr/>
        </p:nvSpPr>
        <p:spPr>
          <a:xfrm>
            <a:off x="1082871" y="5879136"/>
            <a:ext cx="993808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spc="179">
                <a:solidFill>
                  <a:srgbClr val="000000"/>
                </a:solidFill>
                <a:latin typeface="Times New Roman" panose="02020603050405020304" pitchFamily="18" charset="0"/>
                <a:ea typeface="Arvo"/>
                <a:cs typeface="Times New Roman" panose="02020603050405020304" pitchFamily="18" charset="0"/>
                <a:sym typeface="Arvo"/>
              </a:rPr>
              <a:t>FACULTY OF COMPUTING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ESSENTIALS OF ARTIFICIAL INTELLIGENCE</a:t>
            </a:r>
          </a:p>
          <a:p>
            <a:pPr algn="ctr"/>
            <a:r>
              <a:rPr lang="en-US" sz="2800" spc="179">
                <a:solidFill>
                  <a:srgbClr val="000000"/>
                </a:solidFill>
                <a:latin typeface="Times New Roman" panose="02020603050405020304" pitchFamily="18" charset="0"/>
                <a:ea typeface="Arvo"/>
                <a:cs typeface="Times New Roman" panose="02020603050405020304" pitchFamily="18" charset="0"/>
                <a:sym typeface="Arvo"/>
              </a:rPr>
              <a:t>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GROUP 02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B0E0910-8490-C322-1677-C33F018764F6}"/>
              </a:ext>
            </a:extLst>
          </p:cNvPr>
          <p:cNvSpPr txBox="1"/>
          <p:nvPr/>
        </p:nvSpPr>
        <p:spPr>
          <a:xfrm>
            <a:off x="609600" y="7664149"/>
            <a:ext cx="1184709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AI-Based Medicine Demand Prediction and Stock Replenishment Decision Support System for Pharmacies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E6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8BBB17-A026-3A67-9D37-586C96E52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2">
            <a:extLst>
              <a:ext uri="{FF2B5EF4-FFF2-40B4-BE49-F238E27FC236}">
                <a16:creationId xmlns:a16="http://schemas.microsoft.com/office/drawing/2014/main" id="{7CAA645D-DEB4-C225-7F6E-6D565A95044B}"/>
              </a:ext>
            </a:extLst>
          </p:cNvPr>
          <p:cNvGrpSpPr/>
          <p:nvPr/>
        </p:nvGrpSpPr>
        <p:grpSpPr>
          <a:xfrm>
            <a:off x="10546944" y="4522059"/>
            <a:ext cx="6598056" cy="8409056"/>
            <a:chOff x="0" y="0"/>
            <a:chExt cx="633777" cy="807720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72D785BA-FC9D-C496-920F-5E71A08839BB}"/>
                </a:ext>
              </a:extLst>
            </p:cNvPr>
            <p:cNvSpPr/>
            <p:nvPr/>
          </p:nvSpPr>
          <p:spPr>
            <a:xfrm>
              <a:off x="0" y="15874"/>
              <a:ext cx="633777" cy="774701"/>
            </a:xfrm>
            <a:custGeom>
              <a:avLst/>
              <a:gdLst/>
              <a:ahLst/>
              <a:cxnLst/>
              <a:rect l="l" t="t" r="r" b="b"/>
              <a:pathLst>
                <a:path w="633777" h="774701">
                  <a:moveTo>
                    <a:pt x="362809" y="13388"/>
                  </a:moveTo>
                  <a:lnTo>
                    <a:pt x="587856" y="156794"/>
                  </a:lnTo>
                  <a:cubicBezTo>
                    <a:pt x="616460" y="175021"/>
                    <a:pt x="633777" y="206590"/>
                    <a:pt x="633777" y="240507"/>
                  </a:cubicBezTo>
                  <a:lnTo>
                    <a:pt x="633777" y="534195"/>
                  </a:lnTo>
                  <a:cubicBezTo>
                    <a:pt x="633777" y="568112"/>
                    <a:pt x="616460" y="599681"/>
                    <a:pt x="587856" y="617908"/>
                  </a:cubicBezTo>
                  <a:lnTo>
                    <a:pt x="362809" y="761314"/>
                  </a:lnTo>
                  <a:cubicBezTo>
                    <a:pt x="334797" y="779164"/>
                    <a:pt x="298980" y="779164"/>
                    <a:pt x="270968" y="761314"/>
                  </a:cubicBezTo>
                  <a:lnTo>
                    <a:pt x="45921" y="617908"/>
                  </a:lnTo>
                  <a:cubicBezTo>
                    <a:pt x="17317" y="599681"/>
                    <a:pt x="0" y="568112"/>
                    <a:pt x="0" y="534195"/>
                  </a:cubicBezTo>
                  <a:lnTo>
                    <a:pt x="0" y="240507"/>
                  </a:lnTo>
                  <a:cubicBezTo>
                    <a:pt x="0" y="206590"/>
                    <a:pt x="17317" y="175021"/>
                    <a:pt x="45921" y="156794"/>
                  </a:cubicBezTo>
                  <a:lnTo>
                    <a:pt x="270968" y="13388"/>
                  </a:lnTo>
                  <a:cubicBezTo>
                    <a:pt x="298980" y="-4462"/>
                    <a:pt x="334797" y="-4462"/>
                    <a:pt x="362809" y="13388"/>
                  </a:cubicBezTo>
                  <a:close/>
                </a:path>
              </a:pathLst>
            </a:custGeom>
            <a:ln w="600075" cap="rnd">
              <a:solidFill>
                <a:srgbClr val="2E6417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B5B1D3E1-E371-62D3-D272-76CBBD71C339}"/>
                </a:ext>
              </a:extLst>
            </p:cNvPr>
            <p:cNvSpPr txBox="1"/>
            <p:nvPr/>
          </p:nvSpPr>
          <p:spPr>
            <a:xfrm>
              <a:off x="85032" y="109645"/>
              <a:ext cx="463712" cy="549099"/>
            </a:xfrm>
            <a:prstGeom prst="rect">
              <a:avLst/>
            </a:prstGeom>
          </p:spPr>
          <p:txBody>
            <a:bodyPr lIns="48041" tIns="48041" rIns="48041" bIns="48041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86FB8296-60ED-C532-36D1-C65FD40284DC}"/>
              </a:ext>
            </a:extLst>
          </p:cNvPr>
          <p:cNvSpPr txBox="1"/>
          <p:nvPr/>
        </p:nvSpPr>
        <p:spPr>
          <a:xfrm>
            <a:off x="5166648" y="4297691"/>
            <a:ext cx="5320572" cy="5716590"/>
          </a:xfrm>
          <a:prstGeom prst="rect">
            <a:avLst/>
          </a:prstGeom>
        </p:spPr>
        <p:txBody>
          <a:bodyPr lIns="48041" tIns="48041" rIns="48041" bIns="48041" rtlCol="0" anchor="ctr"/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grpSp>
        <p:nvGrpSpPr>
          <p:cNvPr id="15" name="Group 15">
            <a:extLst>
              <a:ext uri="{FF2B5EF4-FFF2-40B4-BE49-F238E27FC236}">
                <a16:creationId xmlns:a16="http://schemas.microsoft.com/office/drawing/2014/main" id="{9E1C0A08-D312-5C10-7068-8EB49078171F}"/>
              </a:ext>
            </a:extLst>
          </p:cNvPr>
          <p:cNvGrpSpPr/>
          <p:nvPr/>
        </p:nvGrpSpPr>
        <p:grpSpPr>
          <a:xfrm rot="-118673">
            <a:off x="14119260" y="-2441343"/>
            <a:ext cx="6598056" cy="8409056"/>
            <a:chOff x="0" y="0"/>
            <a:chExt cx="633777" cy="807720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8FEEB64B-E0D1-94D3-4239-B9F987C7E295}"/>
                </a:ext>
              </a:extLst>
            </p:cNvPr>
            <p:cNvSpPr/>
            <p:nvPr/>
          </p:nvSpPr>
          <p:spPr>
            <a:xfrm>
              <a:off x="0" y="15874"/>
              <a:ext cx="633777" cy="774701"/>
            </a:xfrm>
            <a:custGeom>
              <a:avLst/>
              <a:gdLst/>
              <a:ahLst/>
              <a:cxnLst/>
              <a:rect l="l" t="t" r="r" b="b"/>
              <a:pathLst>
                <a:path w="633777" h="774701">
                  <a:moveTo>
                    <a:pt x="362809" y="13388"/>
                  </a:moveTo>
                  <a:lnTo>
                    <a:pt x="587856" y="156794"/>
                  </a:lnTo>
                  <a:cubicBezTo>
                    <a:pt x="616460" y="175021"/>
                    <a:pt x="633777" y="206590"/>
                    <a:pt x="633777" y="240507"/>
                  </a:cubicBezTo>
                  <a:lnTo>
                    <a:pt x="633777" y="534195"/>
                  </a:lnTo>
                  <a:cubicBezTo>
                    <a:pt x="633777" y="568112"/>
                    <a:pt x="616460" y="599681"/>
                    <a:pt x="587856" y="617908"/>
                  </a:cubicBezTo>
                  <a:lnTo>
                    <a:pt x="362809" y="761314"/>
                  </a:lnTo>
                  <a:cubicBezTo>
                    <a:pt x="334797" y="779164"/>
                    <a:pt x="298980" y="779164"/>
                    <a:pt x="270968" y="761314"/>
                  </a:cubicBezTo>
                  <a:lnTo>
                    <a:pt x="45921" y="617908"/>
                  </a:lnTo>
                  <a:cubicBezTo>
                    <a:pt x="17317" y="599681"/>
                    <a:pt x="0" y="568112"/>
                    <a:pt x="0" y="534195"/>
                  </a:cubicBezTo>
                  <a:lnTo>
                    <a:pt x="0" y="240507"/>
                  </a:lnTo>
                  <a:cubicBezTo>
                    <a:pt x="0" y="206590"/>
                    <a:pt x="17317" y="175021"/>
                    <a:pt x="45921" y="156794"/>
                  </a:cubicBezTo>
                  <a:lnTo>
                    <a:pt x="270968" y="13388"/>
                  </a:lnTo>
                  <a:cubicBezTo>
                    <a:pt x="298980" y="-4462"/>
                    <a:pt x="334797" y="-4462"/>
                    <a:pt x="362809" y="13388"/>
                  </a:cubicBezTo>
                  <a:close/>
                </a:path>
              </a:pathLst>
            </a:custGeom>
            <a:ln w="600075" cap="rnd">
              <a:solidFill>
                <a:srgbClr val="2E6417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5172DB25-2753-116B-BA67-93335F63CF98}"/>
                </a:ext>
              </a:extLst>
            </p:cNvPr>
            <p:cNvSpPr txBox="1"/>
            <p:nvPr/>
          </p:nvSpPr>
          <p:spPr>
            <a:xfrm>
              <a:off x="85032" y="109645"/>
              <a:ext cx="463712" cy="549099"/>
            </a:xfrm>
            <a:prstGeom prst="rect">
              <a:avLst/>
            </a:prstGeom>
          </p:spPr>
          <p:txBody>
            <a:bodyPr lIns="48041" tIns="48041" rIns="48041" bIns="48041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5280274-F0D5-0131-ECE2-6A4942221BE8}"/>
              </a:ext>
            </a:extLst>
          </p:cNvPr>
          <p:cNvSpPr txBox="1"/>
          <p:nvPr/>
        </p:nvSpPr>
        <p:spPr>
          <a:xfrm>
            <a:off x="1143000" y="952500"/>
            <a:ext cx="708803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56CA32-BBAA-D4F1-7432-E0A71F925D6E}"/>
              </a:ext>
            </a:extLst>
          </p:cNvPr>
          <p:cNvSpPr txBox="1"/>
          <p:nvPr/>
        </p:nvSpPr>
        <p:spPr>
          <a:xfrm>
            <a:off x="1143000" y="2151815"/>
            <a:ext cx="10058400" cy="5983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50000"/>
              </a:lnSpc>
              <a:buAutoNum type="arabicPeriod"/>
            </a:pPr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S.N.D. De Silva - 7123</a:t>
            </a:r>
          </a:p>
          <a:p>
            <a:pPr marL="342900" indent="-342900">
              <a:lnSpc>
                <a:spcPct val="250000"/>
              </a:lnSpc>
              <a:buAutoNum type="arabicPeriod"/>
            </a:pPr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G.Y.S. Wickramaratne - D/BIS/24/0003 </a:t>
            </a:r>
          </a:p>
          <a:p>
            <a:pPr marL="342900" indent="-342900">
              <a:lnSpc>
                <a:spcPct val="250000"/>
              </a:lnSpc>
              <a:buAutoNum type="arabicPeriod"/>
            </a:pPr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K.H.T. Pawani Kishala - D/BIT/24/0018 </a:t>
            </a:r>
          </a:p>
          <a:p>
            <a:pPr marL="342900" indent="-342900">
              <a:lnSpc>
                <a:spcPct val="250000"/>
              </a:lnSpc>
              <a:buAutoNum type="arabicPeriod"/>
            </a:pPr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W.A.A. K. </a:t>
            </a:r>
            <a:r>
              <a:rPr lang="en-US" sz="4000" err="1">
                <a:latin typeface="Times New Roman" panose="02020603050405020304" pitchFamily="18" charset="0"/>
                <a:cs typeface="Times New Roman" panose="02020603050405020304" pitchFamily="18" charset="0"/>
              </a:rPr>
              <a:t>Gimhan</a:t>
            </a:r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  - D/BSE/25/0002 </a:t>
            </a:r>
          </a:p>
        </p:txBody>
      </p:sp>
    </p:spTree>
    <p:extLst>
      <p:ext uri="{BB962C8B-B14F-4D97-AF65-F5344CB8AC3E}">
        <p14:creationId xmlns:p14="http://schemas.microsoft.com/office/powerpoint/2010/main" val="2983531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E6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165824" y="-433991"/>
            <a:ext cx="5122176" cy="4503174"/>
            <a:chOff x="0" y="0"/>
            <a:chExt cx="1477995" cy="15071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77995" cy="1507127"/>
            </a:xfrm>
            <a:custGeom>
              <a:avLst/>
              <a:gdLst/>
              <a:ahLst/>
              <a:cxnLst/>
              <a:rect l="l" t="t" r="r" b="b"/>
              <a:pathLst>
                <a:path w="1477995" h="1507127">
                  <a:moveTo>
                    <a:pt x="0" y="0"/>
                  </a:moveTo>
                  <a:lnTo>
                    <a:pt x="1477995" y="0"/>
                  </a:lnTo>
                  <a:lnTo>
                    <a:pt x="1477995" y="1507127"/>
                  </a:lnTo>
                  <a:lnTo>
                    <a:pt x="0" y="1507127"/>
                  </a:lnTo>
                  <a:close/>
                </a:path>
              </a:pathLst>
            </a:custGeom>
            <a:solidFill>
              <a:srgbClr val="88A20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77995" cy="1545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85800" y="114300"/>
            <a:ext cx="8763000" cy="10543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903"/>
              </a:lnSpc>
            </a:pPr>
            <a:r>
              <a:rPr lang="en-US" sz="6000" b="1">
                <a:solidFill>
                  <a:srgbClr val="2F5D1B"/>
                </a:solidFill>
                <a:latin typeface="Times New Roman"/>
                <a:ea typeface="Bernoru"/>
                <a:cs typeface="Times New Roman"/>
                <a:sym typeface="Bernoru"/>
              </a:rPr>
              <a:t>INTRODUCTION</a:t>
            </a:r>
            <a:endParaRPr lang="en-US" sz="6000" b="1">
              <a:solidFill>
                <a:srgbClr val="2F5D1B"/>
              </a:solidFill>
              <a:latin typeface="Times New Roman"/>
              <a:ea typeface="Bernoru"/>
              <a:cs typeface="Times New Roman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3615219" y="-181410"/>
            <a:ext cx="4223385" cy="3884172"/>
            <a:chOff x="0" y="1066976"/>
            <a:chExt cx="2309032" cy="2215974"/>
          </a:xfrm>
        </p:grpSpPr>
        <p:sp>
          <p:nvSpPr>
            <p:cNvPr id="6" name="Freeform 6"/>
            <p:cNvSpPr/>
            <p:nvPr/>
          </p:nvSpPr>
          <p:spPr>
            <a:xfrm>
              <a:off x="0" y="1066976"/>
              <a:ext cx="2309032" cy="2215974"/>
            </a:xfrm>
            <a:custGeom>
              <a:avLst/>
              <a:gdLst/>
              <a:ahLst/>
              <a:cxnLst/>
              <a:rect l="l" t="t" r="r" b="b"/>
              <a:pathLst>
                <a:path w="3282950" h="3282950">
                  <a:moveTo>
                    <a:pt x="0" y="0"/>
                  </a:moveTo>
                  <a:lnTo>
                    <a:pt x="2532380" y="0"/>
                  </a:lnTo>
                  <a:cubicBezTo>
                    <a:pt x="2946400" y="0"/>
                    <a:pt x="3282950" y="336550"/>
                    <a:pt x="3282950" y="750570"/>
                  </a:cubicBezTo>
                  <a:lnTo>
                    <a:pt x="3282950" y="3282950"/>
                  </a:lnTo>
                  <a:lnTo>
                    <a:pt x="0" y="3282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5046" r="-2504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DC74F606-74AA-188D-1C87-202029968B66}"/>
              </a:ext>
            </a:extLst>
          </p:cNvPr>
          <p:cNvSpPr txBox="1"/>
          <p:nvPr/>
        </p:nvSpPr>
        <p:spPr>
          <a:xfrm>
            <a:off x="685800" y="1028700"/>
            <a:ext cx="14121063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8903"/>
              </a:lnSpc>
            </a:pPr>
            <a:r>
              <a:rPr lang="en-US" sz="4800" b="1">
                <a:latin typeface="Times New Roman" panose="02020603050405020304" pitchFamily="18" charset="0"/>
                <a:cs typeface="Times New Roman" panose="02020603050405020304" pitchFamily="18" charset="0"/>
              </a:rPr>
              <a:t>Why AI for pharmacy inventory?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24E163-AC68-0755-0336-3597F15B960D}"/>
              </a:ext>
            </a:extLst>
          </p:cNvPr>
          <p:cNvSpPr txBox="1"/>
          <p:nvPr/>
        </p:nvSpPr>
        <p:spPr>
          <a:xfrm>
            <a:off x="722897" y="2838846"/>
            <a:ext cx="13335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180"/>
                </a:solidFill>
                <a:latin typeface="Aptos"/>
              </a:defRPr>
            </a:pPr>
            <a:r>
              <a:rPr lang="en-US" sz="32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applies AI to a practical demand-and-stock decision problem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9BBD34C-CBD0-B4DC-5EAA-7A031DB94FCC}"/>
              </a:ext>
            </a:extLst>
          </p:cNvPr>
          <p:cNvSpPr/>
          <p:nvPr/>
        </p:nvSpPr>
        <p:spPr>
          <a:xfrm>
            <a:off x="533400" y="4381500"/>
            <a:ext cx="5029200" cy="41737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0C2340"/>
                </a:solidFill>
                <a:latin typeface="Aptos"/>
              </a:defRPr>
            </a:pPr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643C32-93BF-40F8-DF58-AC58D2C42C96}"/>
              </a:ext>
            </a:extLst>
          </p:cNvPr>
          <p:cNvSpPr/>
          <p:nvPr/>
        </p:nvSpPr>
        <p:spPr>
          <a:xfrm>
            <a:off x="6324600" y="4381500"/>
            <a:ext cx="5029200" cy="41737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9D0761A-EDBA-C58E-8319-B69F6A71DD9A}"/>
              </a:ext>
            </a:extLst>
          </p:cNvPr>
          <p:cNvSpPr/>
          <p:nvPr/>
        </p:nvSpPr>
        <p:spPr>
          <a:xfrm>
            <a:off x="12292263" y="4381500"/>
            <a:ext cx="5029200" cy="41737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EE66BCA-F9EE-9C7A-105F-549952FC7BBF}"/>
              </a:ext>
            </a:extLst>
          </p:cNvPr>
          <p:cNvSpPr txBox="1"/>
          <p:nvPr/>
        </p:nvSpPr>
        <p:spPr>
          <a:xfrm>
            <a:off x="1194744" y="4761347"/>
            <a:ext cx="37065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C2340"/>
                </a:solidFill>
                <a:latin typeface="Aptos"/>
              </a:defRPr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MEET DEMAND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201528A-86FF-1BCA-4EB6-9B23D2B9429F}"/>
              </a:ext>
            </a:extLst>
          </p:cNvPr>
          <p:cNvSpPr txBox="1"/>
          <p:nvPr/>
        </p:nvSpPr>
        <p:spPr>
          <a:xfrm rot="10800000" flipV="1">
            <a:off x="685800" y="5820895"/>
            <a:ext cx="470033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Pharmacies need enough medicine available when customers need it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9480B98-CE55-CEA4-42DE-6E81EE87913B}"/>
              </a:ext>
            </a:extLst>
          </p:cNvPr>
          <p:cNvSpPr txBox="1"/>
          <p:nvPr/>
        </p:nvSpPr>
        <p:spPr>
          <a:xfrm>
            <a:off x="7390397" y="4761346"/>
            <a:ext cx="35072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C2340"/>
                </a:solidFill>
                <a:latin typeface="Aptos"/>
              </a:defRPr>
            </a:pPr>
            <a:r>
              <a:rPr lang="en-US" sz="3200" b="1">
                <a:solidFill>
                  <a:srgbClr val="0C23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AVOID EXCESS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B9E1C3A-AB86-5320-6152-C70302BAB210}"/>
              </a:ext>
            </a:extLst>
          </p:cNvPr>
          <p:cNvSpPr txBox="1"/>
          <p:nvPr/>
        </p:nvSpPr>
        <p:spPr>
          <a:xfrm>
            <a:off x="12941831" y="4851112"/>
            <a:ext cx="41391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C2340"/>
                </a:solidFill>
                <a:latin typeface="Aptos"/>
              </a:defRPr>
            </a:pPr>
            <a:r>
              <a:rPr lang="en-US" sz="3200" b="1">
                <a:solidFill>
                  <a:srgbClr val="0C23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 AHEAD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D14F496-1AD3-CC9F-EE14-01075BD24916}"/>
              </a:ext>
            </a:extLst>
          </p:cNvPr>
          <p:cNvSpPr txBox="1"/>
          <p:nvPr/>
        </p:nvSpPr>
        <p:spPr>
          <a:xfrm>
            <a:off x="6704597" y="5645714"/>
            <a:ext cx="426920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26303E"/>
                </a:solidFill>
                <a:latin typeface="Aptos"/>
              </a:defRPr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Too much inventory can create unnecessary stock and storage burden</a:t>
            </a:r>
            <a:r>
              <a:rPr lang="en-US" sz="1500"/>
              <a:t>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AD5591-20AC-4974-BA2C-2B61F7C95FAD}"/>
              </a:ext>
            </a:extLst>
          </p:cNvPr>
          <p:cNvSpPr txBox="1"/>
          <p:nvPr/>
        </p:nvSpPr>
        <p:spPr>
          <a:xfrm>
            <a:off x="12661231" y="5645714"/>
            <a:ext cx="429126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26303E"/>
                </a:solidFill>
                <a:latin typeface="Aptos"/>
              </a:defRPr>
            </a:pPr>
            <a:r>
              <a:rPr lang="en-US" sz="3200">
                <a:solidFill>
                  <a:srgbClr val="2630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 changes over time, so future needs are difficult to estimate manually.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DE94842-B483-7235-C747-A465DE848EEA}"/>
              </a:ext>
            </a:extLst>
          </p:cNvPr>
          <p:cNvSpPr txBox="1"/>
          <p:nvPr/>
        </p:nvSpPr>
        <p:spPr>
          <a:xfrm>
            <a:off x="0" y="9036235"/>
            <a:ext cx="158897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C2340"/>
                </a:solidFill>
                <a:latin typeface="Aptos"/>
              </a:defRPr>
            </a:pP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data  →  AI prediction  →  Better-informed inventory decisions</a:t>
            </a:r>
          </a:p>
        </p:txBody>
      </p:sp>
      <p:sp>
        <p:nvSpPr>
          <p:cNvPr id="12" name="Freeform 12"/>
          <p:cNvSpPr/>
          <p:nvPr/>
        </p:nvSpPr>
        <p:spPr>
          <a:xfrm rot="5841466">
            <a:off x="15988022" y="6978929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0" y="0"/>
                </a:moveTo>
                <a:lnTo>
                  <a:pt x="3059915" y="0"/>
                </a:lnTo>
                <a:lnTo>
                  <a:pt x="305991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E6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CA4BCD-4856-7578-9D24-30848318F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2">
            <a:extLst>
              <a:ext uri="{FF2B5EF4-FFF2-40B4-BE49-F238E27FC236}">
                <a16:creationId xmlns:a16="http://schemas.microsoft.com/office/drawing/2014/main" id="{BB07E7FF-6FF0-C90F-5B6C-AF2B614E3DAE}"/>
              </a:ext>
            </a:extLst>
          </p:cNvPr>
          <p:cNvGrpSpPr/>
          <p:nvPr/>
        </p:nvGrpSpPr>
        <p:grpSpPr>
          <a:xfrm>
            <a:off x="12922315" y="4269152"/>
            <a:ext cx="8423070" cy="8934678"/>
            <a:chOff x="0" y="0"/>
            <a:chExt cx="633777" cy="807720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C3260890-F25E-7FB6-3AFC-04F0AE2C6652}"/>
                </a:ext>
              </a:extLst>
            </p:cNvPr>
            <p:cNvSpPr/>
            <p:nvPr/>
          </p:nvSpPr>
          <p:spPr>
            <a:xfrm>
              <a:off x="0" y="15874"/>
              <a:ext cx="633777" cy="774701"/>
            </a:xfrm>
            <a:custGeom>
              <a:avLst/>
              <a:gdLst/>
              <a:ahLst/>
              <a:cxnLst/>
              <a:rect l="l" t="t" r="r" b="b"/>
              <a:pathLst>
                <a:path w="633777" h="774701">
                  <a:moveTo>
                    <a:pt x="362809" y="13388"/>
                  </a:moveTo>
                  <a:lnTo>
                    <a:pt x="587856" y="156794"/>
                  </a:lnTo>
                  <a:cubicBezTo>
                    <a:pt x="616460" y="175021"/>
                    <a:pt x="633777" y="206590"/>
                    <a:pt x="633777" y="240507"/>
                  </a:cubicBezTo>
                  <a:lnTo>
                    <a:pt x="633777" y="534195"/>
                  </a:lnTo>
                  <a:cubicBezTo>
                    <a:pt x="633777" y="568112"/>
                    <a:pt x="616460" y="599681"/>
                    <a:pt x="587856" y="617908"/>
                  </a:cubicBezTo>
                  <a:lnTo>
                    <a:pt x="362809" y="761314"/>
                  </a:lnTo>
                  <a:cubicBezTo>
                    <a:pt x="334797" y="779164"/>
                    <a:pt x="298980" y="779164"/>
                    <a:pt x="270968" y="761314"/>
                  </a:cubicBezTo>
                  <a:lnTo>
                    <a:pt x="45921" y="617908"/>
                  </a:lnTo>
                  <a:cubicBezTo>
                    <a:pt x="17317" y="599681"/>
                    <a:pt x="0" y="568112"/>
                    <a:pt x="0" y="534195"/>
                  </a:cubicBezTo>
                  <a:lnTo>
                    <a:pt x="0" y="240507"/>
                  </a:lnTo>
                  <a:cubicBezTo>
                    <a:pt x="0" y="206590"/>
                    <a:pt x="17317" y="175021"/>
                    <a:pt x="45921" y="156794"/>
                  </a:cubicBezTo>
                  <a:lnTo>
                    <a:pt x="270968" y="13388"/>
                  </a:lnTo>
                  <a:cubicBezTo>
                    <a:pt x="298980" y="-4462"/>
                    <a:pt x="334797" y="-4462"/>
                    <a:pt x="362809" y="13388"/>
                  </a:cubicBezTo>
                  <a:close/>
                </a:path>
              </a:pathLst>
            </a:custGeom>
            <a:ln w="600075" cap="rnd">
              <a:solidFill>
                <a:srgbClr val="2E6417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7C691862-F886-8B3E-EE54-D97BC3D1DE2B}"/>
                </a:ext>
              </a:extLst>
            </p:cNvPr>
            <p:cNvSpPr txBox="1"/>
            <p:nvPr/>
          </p:nvSpPr>
          <p:spPr>
            <a:xfrm>
              <a:off x="85032" y="109645"/>
              <a:ext cx="463712" cy="549099"/>
            </a:xfrm>
            <a:prstGeom prst="rect">
              <a:avLst/>
            </a:prstGeom>
          </p:spPr>
          <p:txBody>
            <a:bodyPr lIns="48041" tIns="48041" rIns="48041" bIns="48041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E43EA08E-4630-904B-A688-CAD2D035F215}"/>
              </a:ext>
            </a:extLst>
          </p:cNvPr>
          <p:cNvSpPr txBox="1"/>
          <p:nvPr/>
        </p:nvSpPr>
        <p:spPr>
          <a:xfrm>
            <a:off x="5166648" y="4297691"/>
            <a:ext cx="5320572" cy="5716590"/>
          </a:xfrm>
          <a:prstGeom prst="rect">
            <a:avLst/>
          </a:prstGeom>
        </p:spPr>
        <p:txBody>
          <a:bodyPr lIns="48041" tIns="48041" rIns="48041" bIns="48041" rtlCol="0" anchor="ctr"/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grpSp>
        <p:nvGrpSpPr>
          <p:cNvPr id="15" name="Group 15">
            <a:extLst>
              <a:ext uri="{FF2B5EF4-FFF2-40B4-BE49-F238E27FC236}">
                <a16:creationId xmlns:a16="http://schemas.microsoft.com/office/drawing/2014/main" id="{51D2EE70-3614-F09F-429E-82BC0F270830}"/>
              </a:ext>
            </a:extLst>
          </p:cNvPr>
          <p:cNvGrpSpPr/>
          <p:nvPr/>
        </p:nvGrpSpPr>
        <p:grpSpPr>
          <a:xfrm rot="-118673">
            <a:off x="13011378" y="-3660543"/>
            <a:ext cx="6598056" cy="8409056"/>
            <a:chOff x="0" y="0"/>
            <a:chExt cx="633777" cy="807720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726860CE-5F09-7646-2BF8-01DA5929987A}"/>
                </a:ext>
              </a:extLst>
            </p:cNvPr>
            <p:cNvSpPr/>
            <p:nvPr/>
          </p:nvSpPr>
          <p:spPr>
            <a:xfrm>
              <a:off x="0" y="15874"/>
              <a:ext cx="633777" cy="774701"/>
            </a:xfrm>
            <a:custGeom>
              <a:avLst/>
              <a:gdLst/>
              <a:ahLst/>
              <a:cxnLst/>
              <a:rect l="l" t="t" r="r" b="b"/>
              <a:pathLst>
                <a:path w="633777" h="774701">
                  <a:moveTo>
                    <a:pt x="362809" y="13388"/>
                  </a:moveTo>
                  <a:lnTo>
                    <a:pt x="587856" y="156794"/>
                  </a:lnTo>
                  <a:cubicBezTo>
                    <a:pt x="616460" y="175021"/>
                    <a:pt x="633777" y="206590"/>
                    <a:pt x="633777" y="240507"/>
                  </a:cubicBezTo>
                  <a:lnTo>
                    <a:pt x="633777" y="534195"/>
                  </a:lnTo>
                  <a:cubicBezTo>
                    <a:pt x="633777" y="568112"/>
                    <a:pt x="616460" y="599681"/>
                    <a:pt x="587856" y="617908"/>
                  </a:cubicBezTo>
                  <a:lnTo>
                    <a:pt x="362809" y="761314"/>
                  </a:lnTo>
                  <a:cubicBezTo>
                    <a:pt x="334797" y="779164"/>
                    <a:pt x="298980" y="779164"/>
                    <a:pt x="270968" y="761314"/>
                  </a:cubicBezTo>
                  <a:lnTo>
                    <a:pt x="45921" y="617908"/>
                  </a:lnTo>
                  <a:cubicBezTo>
                    <a:pt x="17317" y="599681"/>
                    <a:pt x="0" y="568112"/>
                    <a:pt x="0" y="534195"/>
                  </a:cubicBezTo>
                  <a:lnTo>
                    <a:pt x="0" y="240507"/>
                  </a:lnTo>
                  <a:cubicBezTo>
                    <a:pt x="0" y="206590"/>
                    <a:pt x="17317" y="175021"/>
                    <a:pt x="45921" y="156794"/>
                  </a:cubicBezTo>
                  <a:lnTo>
                    <a:pt x="270968" y="13388"/>
                  </a:lnTo>
                  <a:cubicBezTo>
                    <a:pt x="298980" y="-4462"/>
                    <a:pt x="334797" y="-4462"/>
                    <a:pt x="362809" y="13388"/>
                  </a:cubicBezTo>
                  <a:close/>
                </a:path>
              </a:pathLst>
            </a:custGeom>
            <a:ln w="600075" cap="rnd">
              <a:solidFill>
                <a:srgbClr val="2E6417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B912E583-29B6-3DE5-1094-36AC0808BCA1}"/>
                </a:ext>
              </a:extLst>
            </p:cNvPr>
            <p:cNvSpPr txBox="1"/>
            <p:nvPr/>
          </p:nvSpPr>
          <p:spPr>
            <a:xfrm>
              <a:off x="85032" y="109645"/>
              <a:ext cx="463712" cy="549099"/>
            </a:xfrm>
            <a:prstGeom prst="rect">
              <a:avLst/>
            </a:prstGeom>
          </p:spPr>
          <p:txBody>
            <a:bodyPr lIns="48041" tIns="48041" rIns="48041" bIns="48041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44C89640-5587-E3FD-0E98-E0CE1CE1DC8B}"/>
              </a:ext>
            </a:extLst>
          </p:cNvPr>
          <p:cNvSpPr txBox="1"/>
          <p:nvPr/>
        </p:nvSpPr>
        <p:spPr>
          <a:xfrm>
            <a:off x="5746476" y="522955"/>
            <a:ext cx="14478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endParaRPr lang="en-US" sz="6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B2E5E0-87C6-68A6-7A0C-263C7E79D600}"/>
              </a:ext>
            </a:extLst>
          </p:cNvPr>
          <p:cNvSpPr txBox="1"/>
          <p:nvPr/>
        </p:nvSpPr>
        <p:spPr>
          <a:xfrm>
            <a:off x="345266" y="1600326"/>
            <a:ext cx="1214387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develop an AI-based Medicine Demand Prediction and Stock Replenishment Decision Support System to support informed medicine stocking decisions.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08BD7DB-4159-31E3-AF85-53877E9135D9}"/>
              </a:ext>
            </a:extLst>
          </p:cNvPr>
          <p:cNvGrpSpPr/>
          <p:nvPr/>
        </p:nvGrpSpPr>
        <p:grpSpPr>
          <a:xfrm>
            <a:off x="13374134" y="4924595"/>
            <a:ext cx="7271869" cy="7193598"/>
            <a:chOff x="0" y="13255"/>
            <a:chExt cx="698500" cy="779940"/>
          </a:xfrm>
        </p:grpSpPr>
        <p:sp>
          <p:nvSpPr>
            <p:cNvPr id="3" name="Freeform 8">
              <a:extLst>
                <a:ext uri="{FF2B5EF4-FFF2-40B4-BE49-F238E27FC236}">
                  <a16:creationId xmlns:a16="http://schemas.microsoft.com/office/drawing/2014/main" id="{AA9A6551-521F-1A36-F524-7161ADC42E3B}"/>
                </a:ext>
              </a:extLst>
            </p:cNvPr>
            <p:cNvSpPr/>
            <p:nvPr/>
          </p:nvSpPr>
          <p:spPr>
            <a:xfrm>
              <a:off x="0" y="13255"/>
              <a:ext cx="698500" cy="779940"/>
            </a:xfrm>
            <a:custGeom>
              <a:avLst/>
              <a:gdLst/>
              <a:ahLst/>
              <a:cxnLst/>
              <a:rect l="l" t="t" r="r" b="b"/>
              <a:pathLst>
                <a:path w="698500" h="779940">
                  <a:moveTo>
                    <a:pt x="392021" y="11475"/>
                  </a:moveTo>
                  <a:lnTo>
                    <a:pt x="655729" y="163945"/>
                  </a:lnTo>
                  <a:cubicBezTo>
                    <a:pt x="682198" y="179250"/>
                    <a:pt x="698500" y="207505"/>
                    <a:pt x="698500" y="238081"/>
                  </a:cubicBezTo>
                  <a:lnTo>
                    <a:pt x="698500" y="541859"/>
                  </a:lnTo>
                  <a:cubicBezTo>
                    <a:pt x="698500" y="572434"/>
                    <a:pt x="682198" y="600690"/>
                    <a:pt x="655729" y="615995"/>
                  </a:cubicBezTo>
                  <a:lnTo>
                    <a:pt x="392021" y="768465"/>
                  </a:lnTo>
                  <a:cubicBezTo>
                    <a:pt x="365559" y="783765"/>
                    <a:pt x="332941" y="783765"/>
                    <a:pt x="306479" y="768465"/>
                  </a:cubicBezTo>
                  <a:lnTo>
                    <a:pt x="42771" y="615995"/>
                  </a:lnTo>
                  <a:cubicBezTo>
                    <a:pt x="16302" y="600690"/>
                    <a:pt x="0" y="572434"/>
                    <a:pt x="0" y="541859"/>
                  </a:cubicBezTo>
                  <a:lnTo>
                    <a:pt x="0" y="238081"/>
                  </a:lnTo>
                  <a:cubicBezTo>
                    <a:pt x="0" y="207505"/>
                    <a:pt x="16302" y="179250"/>
                    <a:pt x="42771" y="163945"/>
                  </a:cubicBezTo>
                  <a:lnTo>
                    <a:pt x="306479" y="11475"/>
                  </a:lnTo>
                  <a:cubicBezTo>
                    <a:pt x="332941" y="-3825"/>
                    <a:pt x="365559" y="-3825"/>
                    <a:pt x="392021" y="11475"/>
                  </a:cubicBezTo>
                  <a:close/>
                </a:path>
              </a:pathLst>
            </a:custGeom>
            <a:solidFill>
              <a:srgbClr val="88A20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9">
              <a:extLst>
                <a:ext uri="{FF2B5EF4-FFF2-40B4-BE49-F238E27FC236}">
                  <a16:creationId xmlns:a16="http://schemas.microsoft.com/office/drawing/2014/main" id="{42B1AF91-4B98-1CF6-C997-D3B368521E0F}"/>
                </a:ext>
              </a:extLst>
            </p:cNvPr>
            <p:cNvSpPr txBox="1"/>
            <p:nvPr/>
          </p:nvSpPr>
          <p:spPr>
            <a:xfrm>
              <a:off x="93716" y="109645"/>
              <a:ext cx="511068" cy="549099"/>
            </a:xfrm>
            <a:prstGeom prst="rect">
              <a:avLst/>
            </a:prstGeom>
          </p:spPr>
          <p:txBody>
            <a:bodyPr lIns="48041" tIns="48041" rIns="48041" bIns="48041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3EC2A8C-56F7-EA44-93E4-A9C1C4F30261}"/>
              </a:ext>
            </a:extLst>
          </p:cNvPr>
          <p:cNvGrpSpPr/>
          <p:nvPr/>
        </p:nvGrpSpPr>
        <p:grpSpPr>
          <a:xfrm>
            <a:off x="14027889" y="5539366"/>
            <a:ext cx="5964358" cy="6662858"/>
            <a:chOff x="0" y="16248"/>
            <a:chExt cx="698500" cy="780303"/>
          </a:xfrm>
        </p:grpSpPr>
        <p:sp>
          <p:nvSpPr>
            <p:cNvPr id="7" name="Freeform 11">
              <a:extLst>
                <a:ext uri="{FF2B5EF4-FFF2-40B4-BE49-F238E27FC236}">
                  <a16:creationId xmlns:a16="http://schemas.microsoft.com/office/drawing/2014/main" id="{A7743275-C84E-D4EA-47EE-442B722BCF2D}"/>
                </a:ext>
              </a:extLst>
            </p:cNvPr>
            <p:cNvSpPr/>
            <p:nvPr/>
          </p:nvSpPr>
          <p:spPr>
            <a:xfrm>
              <a:off x="0" y="16248"/>
              <a:ext cx="698500" cy="780303"/>
            </a:xfrm>
            <a:custGeom>
              <a:avLst/>
              <a:gdLst/>
              <a:ahLst/>
              <a:cxnLst/>
              <a:rect l="l" t="t" r="r" b="b"/>
              <a:pathLst>
                <a:path w="698500" h="780303">
                  <a:moveTo>
                    <a:pt x="401316" y="14045"/>
                  </a:moveTo>
                  <a:lnTo>
                    <a:pt x="646434" y="156659"/>
                  </a:lnTo>
                  <a:cubicBezTo>
                    <a:pt x="678669" y="175414"/>
                    <a:pt x="698500" y="209895"/>
                    <a:pt x="698500" y="247189"/>
                  </a:cubicBezTo>
                  <a:lnTo>
                    <a:pt x="698500" y="533115"/>
                  </a:lnTo>
                  <a:cubicBezTo>
                    <a:pt x="698500" y="570409"/>
                    <a:pt x="678669" y="604890"/>
                    <a:pt x="646434" y="623645"/>
                  </a:cubicBezTo>
                  <a:lnTo>
                    <a:pt x="401316" y="766259"/>
                  </a:lnTo>
                  <a:cubicBezTo>
                    <a:pt x="369131" y="784985"/>
                    <a:pt x="329369" y="784985"/>
                    <a:pt x="297184" y="766259"/>
                  </a:cubicBezTo>
                  <a:lnTo>
                    <a:pt x="52066" y="623645"/>
                  </a:lnTo>
                  <a:cubicBezTo>
                    <a:pt x="19831" y="604890"/>
                    <a:pt x="0" y="570409"/>
                    <a:pt x="0" y="533115"/>
                  </a:cubicBezTo>
                  <a:lnTo>
                    <a:pt x="0" y="247189"/>
                  </a:lnTo>
                  <a:cubicBezTo>
                    <a:pt x="0" y="209895"/>
                    <a:pt x="19831" y="175414"/>
                    <a:pt x="52066" y="156659"/>
                  </a:cubicBezTo>
                  <a:lnTo>
                    <a:pt x="297184" y="14045"/>
                  </a:lnTo>
                  <a:cubicBezTo>
                    <a:pt x="329369" y="-4681"/>
                    <a:pt x="369131" y="-4681"/>
                    <a:pt x="401316" y="14045"/>
                  </a:cubicBezTo>
                  <a:close/>
                </a:path>
              </a:pathLst>
            </a:custGeom>
            <a:blipFill>
              <a:blip r:embed="rId3"/>
              <a:stretch>
                <a:fillRect t="-2082" b="-3207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CC6FEAB-B0F1-6E3D-D6E8-50A62B42795C}"/>
              </a:ext>
            </a:extLst>
          </p:cNvPr>
          <p:cNvSpPr txBox="1"/>
          <p:nvPr/>
        </p:nvSpPr>
        <p:spPr>
          <a:xfrm>
            <a:off x="4518043" y="3536660"/>
            <a:ext cx="40831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sz="6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829AA1-C894-C217-7DB8-0062098C9246}"/>
              </a:ext>
            </a:extLst>
          </p:cNvPr>
          <p:cNvSpPr txBox="1"/>
          <p:nvPr/>
        </p:nvSpPr>
        <p:spPr>
          <a:xfrm>
            <a:off x="244378" y="4243006"/>
            <a:ext cx="12452028" cy="5913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Create and review historical medicine sales and inventory data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Train Linear Regression, Random Forest, Time-Series Forecasting and LSTM models.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Compare the effectiveness of the four prediction strategies.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Determine the appropriate prediction method based on evaluation results.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Use the selected model to support stock replenishment decisions.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test a prototype dashboard for demand, stock and reorder recommendations</a:t>
            </a:r>
            <a:r>
              <a:rPr lang="en-US"/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2C87089-FEAD-55DC-844A-B3E5736B1782}"/>
              </a:ext>
            </a:extLst>
          </p:cNvPr>
          <p:cNvSpPr txBox="1"/>
          <p:nvPr/>
        </p:nvSpPr>
        <p:spPr>
          <a:xfrm>
            <a:off x="5297905" y="4587860"/>
            <a:ext cx="105958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 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8A60CA-93BC-14CD-2328-D3E3FE703D90}"/>
              </a:ext>
            </a:extLst>
          </p:cNvPr>
          <p:cNvSpPr txBox="1"/>
          <p:nvPr/>
        </p:nvSpPr>
        <p:spPr>
          <a:xfrm>
            <a:off x="5297905" y="4587860"/>
            <a:ext cx="105958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 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E215B3B-C4AD-CAC6-1820-C8F5AD500003}"/>
              </a:ext>
            </a:extLst>
          </p:cNvPr>
          <p:cNvSpPr txBox="1"/>
          <p:nvPr/>
        </p:nvSpPr>
        <p:spPr>
          <a:xfrm>
            <a:off x="5297905" y="4587860"/>
            <a:ext cx="105958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 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7AB6FD-3F45-9AB8-771A-529E239FF8DD}"/>
              </a:ext>
            </a:extLst>
          </p:cNvPr>
          <p:cNvSpPr txBox="1"/>
          <p:nvPr/>
        </p:nvSpPr>
        <p:spPr>
          <a:xfrm>
            <a:off x="5297905" y="4587860"/>
            <a:ext cx="105958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>
                <a:solidFill>
                  <a:schemeClr val="tx1"/>
                </a:solidFill>
                <a:effectLst/>
                <a:latin typeface="+mn-lt"/>
              </a:rPr>
              <a:t> </a:t>
            </a:r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FB8DE01-9BF4-472A-1EC0-8E319ADA8A2B}"/>
              </a:ext>
            </a:extLst>
          </p:cNvPr>
          <p:cNvSpPr txBox="1"/>
          <p:nvPr/>
        </p:nvSpPr>
        <p:spPr>
          <a:xfrm>
            <a:off x="5297905" y="4587860"/>
            <a:ext cx="105958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057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E6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004854" y="0"/>
            <a:ext cx="9369155" cy="10305047"/>
            <a:chOff x="0" y="0"/>
            <a:chExt cx="2503619" cy="30103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03619" cy="3010371"/>
            </a:xfrm>
            <a:custGeom>
              <a:avLst/>
              <a:gdLst/>
              <a:ahLst/>
              <a:cxnLst/>
              <a:rect l="l" t="t" r="r" b="b"/>
              <a:pathLst>
                <a:path w="2503619" h="3010371">
                  <a:moveTo>
                    <a:pt x="0" y="0"/>
                  </a:moveTo>
                  <a:lnTo>
                    <a:pt x="2503619" y="0"/>
                  </a:lnTo>
                  <a:lnTo>
                    <a:pt x="2503619" y="3010371"/>
                  </a:lnTo>
                  <a:lnTo>
                    <a:pt x="0" y="3010371"/>
                  </a:lnTo>
                  <a:close/>
                </a:path>
              </a:pathLst>
            </a:custGeom>
            <a:solidFill>
              <a:srgbClr val="88A20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03619" cy="30484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FBE4DABD-CBF0-7075-E70C-52E330859216}"/>
              </a:ext>
            </a:extLst>
          </p:cNvPr>
          <p:cNvSpPr txBox="1"/>
          <p:nvPr/>
        </p:nvSpPr>
        <p:spPr>
          <a:xfrm>
            <a:off x="275957" y="686892"/>
            <a:ext cx="8534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0C2340"/>
                </a:solidFill>
                <a:latin typeface="Aptos Display"/>
              </a:defRPr>
            </a:pPr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WE IDENTIFIED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13A2C6C-CC5D-5CFA-5013-18034AC76A6E}"/>
              </a:ext>
            </a:extLst>
          </p:cNvPr>
          <p:cNvSpPr txBox="1"/>
          <p:nvPr/>
        </p:nvSpPr>
        <p:spPr>
          <a:xfrm>
            <a:off x="9742767" y="686892"/>
            <a:ext cx="78933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0C2340"/>
                </a:solidFill>
                <a:latin typeface="Aptos Display"/>
              </a:defRPr>
            </a:pPr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OUR PROPOSED SOLUTION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AABFED3-A594-D7A4-997E-B3498971EBCD}"/>
              </a:ext>
            </a:extLst>
          </p:cNvPr>
          <p:cNvSpPr txBox="1"/>
          <p:nvPr/>
        </p:nvSpPr>
        <p:spPr>
          <a:xfrm>
            <a:off x="228600" y="2105523"/>
            <a:ext cx="85344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Future medicine demand is uncertain, while inventory decisions are often made with limited predictive information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012AEA0-4BDB-B1CD-0DF3-6C66E067501C}"/>
              </a:ext>
            </a:extLst>
          </p:cNvPr>
          <p:cNvSpPr/>
          <p:nvPr/>
        </p:nvSpPr>
        <p:spPr>
          <a:xfrm>
            <a:off x="1536032" y="4006811"/>
            <a:ext cx="6400800" cy="79654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4ED2CE6-26A0-12FB-0BC7-65338515E82C}"/>
              </a:ext>
            </a:extLst>
          </p:cNvPr>
          <p:cNvSpPr/>
          <p:nvPr/>
        </p:nvSpPr>
        <p:spPr>
          <a:xfrm>
            <a:off x="1536032" y="5535251"/>
            <a:ext cx="6400800" cy="79654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2E7BDAD-BADE-76CF-738A-32C9D861FDC7}"/>
              </a:ext>
            </a:extLst>
          </p:cNvPr>
          <p:cNvSpPr/>
          <p:nvPr/>
        </p:nvSpPr>
        <p:spPr>
          <a:xfrm>
            <a:off x="1524000" y="7063691"/>
            <a:ext cx="6400800" cy="79654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1DB7CE57-E193-A8ED-460D-35C50CD3BD6C}"/>
              </a:ext>
            </a:extLst>
          </p:cNvPr>
          <p:cNvSpPr/>
          <p:nvPr/>
        </p:nvSpPr>
        <p:spPr>
          <a:xfrm>
            <a:off x="4495800" y="4961202"/>
            <a:ext cx="381000" cy="456700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Arrow: Down 38">
            <a:extLst>
              <a:ext uri="{FF2B5EF4-FFF2-40B4-BE49-F238E27FC236}">
                <a16:creationId xmlns:a16="http://schemas.microsoft.com/office/drawing/2014/main" id="{D061FA58-BE54-7C85-6418-C391C575E718}"/>
              </a:ext>
            </a:extLst>
          </p:cNvPr>
          <p:cNvSpPr/>
          <p:nvPr/>
        </p:nvSpPr>
        <p:spPr>
          <a:xfrm>
            <a:off x="4495800" y="6590603"/>
            <a:ext cx="381000" cy="456700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FCC685B-61A5-E6FF-C054-215B31D3C936}"/>
              </a:ext>
            </a:extLst>
          </p:cNvPr>
          <p:cNvSpPr txBox="1"/>
          <p:nvPr/>
        </p:nvSpPr>
        <p:spPr>
          <a:xfrm>
            <a:off x="2442410" y="4155798"/>
            <a:ext cx="45639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C2340"/>
                </a:solidFill>
                <a:latin typeface="Aptos"/>
              </a:defRPr>
            </a:pPr>
            <a:r>
              <a:rPr lang="en-US" sz="2800">
                <a:solidFill>
                  <a:srgbClr val="232C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CHANGING DEMAND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6FA0219-D2A2-7383-3C07-B2907F4AFBED}"/>
              </a:ext>
            </a:extLst>
          </p:cNvPr>
          <p:cNvSpPr txBox="1"/>
          <p:nvPr/>
        </p:nvSpPr>
        <p:spPr>
          <a:xfrm>
            <a:off x="2030328" y="5676372"/>
            <a:ext cx="5456322" cy="5232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C2340"/>
                </a:solidFill>
                <a:latin typeface="Aptos"/>
              </a:defRPr>
            </a:pPr>
            <a:r>
              <a:rPr lang="en-US" sz="2800" b="1">
                <a:solidFill>
                  <a:srgbClr val="232C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ESTIMATION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C4ACD49-430D-C0DF-B3A3-EA47FD44B922}"/>
              </a:ext>
            </a:extLst>
          </p:cNvPr>
          <p:cNvSpPr txBox="1"/>
          <p:nvPr/>
        </p:nvSpPr>
        <p:spPr>
          <a:xfrm>
            <a:off x="2506579" y="7200355"/>
            <a:ext cx="45038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C2340"/>
                </a:solidFill>
                <a:latin typeface="Aptos"/>
              </a:defRPr>
            </a:pPr>
            <a:r>
              <a:rPr lang="en-US" sz="2800" b="1">
                <a:solidFill>
                  <a:srgbClr val="232C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INVENTORY DECISION</a:t>
            </a:r>
          </a:p>
        </p:txBody>
      </p:sp>
      <p:sp>
        <p:nvSpPr>
          <p:cNvPr id="46" name="Rounded Rectangle 14">
            <a:extLst>
              <a:ext uri="{FF2B5EF4-FFF2-40B4-BE49-F238E27FC236}">
                <a16:creationId xmlns:a16="http://schemas.microsoft.com/office/drawing/2014/main" id="{B346D709-336D-352C-E601-C9B38B5E6E01}"/>
              </a:ext>
            </a:extLst>
          </p:cNvPr>
          <p:cNvSpPr/>
          <p:nvPr/>
        </p:nvSpPr>
        <p:spPr>
          <a:xfrm>
            <a:off x="275957" y="8519690"/>
            <a:ext cx="3485950" cy="1600881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ACC9EF2-4168-1291-22F4-412F1C220F95}"/>
              </a:ext>
            </a:extLst>
          </p:cNvPr>
          <p:cNvSpPr/>
          <p:nvPr/>
        </p:nvSpPr>
        <p:spPr>
          <a:xfrm>
            <a:off x="217211" y="8611558"/>
            <a:ext cx="45719" cy="1489585"/>
          </a:xfrm>
          <a:prstGeom prst="rect">
            <a:avLst/>
          </a:prstGeom>
          <a:solidFill>
            <a:srgbClr val="DA5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48" name="Rounded Rectangle 18">
            <a:extLst>
              <a:ext uri="{FF2B5EF4-FFF2-40B4-BE49-F238E27FC236}">
                <a16:creationId xmlns:a16="http://schemas.microsoft.com/office/drawing/2014/main" id="{961546E3-89D0-C272-C845-361443AFB497}"/>
              </a:ext>
            </a:extLst>
          </p:cNvPr>
          <p:cNvSpPr/>
          <p:nvPr/>
        </p:nvSpPr>
        <p:spPr>
          <a:xfrm>
            <a:off x="5176067" y="8565191"/>
            <a:ext cx="3434596" cy="152844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60423BA-2B25-CDBC-B9E4-E4D5149A2EF1}"/>
              </a:ext>
            </a:extLst>
          </p:cNvPr>
          <p:cNvSpPr/>
          <p:nvPr/>
        </p:nvSpPr>
        <p:spPr>
          <a:xfrm>
            <a:off x="5113545" y="8591910"/>
            <a:ext cx="51354" cy="1509233"/>
          </a:xfrm>
          <a:prstGeom prst="rect">
            <a:avLst/>
          </a:prstGeom>
          <a:solidFill>
            <a:srgbClr val="EB9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236D1C0-35FD-4AA7-E419-28387959840D}"/>
              </a:ext>
            </a:extLst>
          </p:cNvPr>
          <p:cNvSpPr txBox="1"/>
          <p:nvPr/>
        </p:nvSpPr>
        <p:spPr>
          <a:xfrm>
            <a:off x="453430" y="8663343"/>
            <a:ext cx="30511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C2340"/>
                </a:solidFill>
                <a:latin typeface="Aptos"/>
              </a:defRPr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STOCKOUT RISK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B921189-5320-D5F7-682B-BD287F9583EF}"/>
              </a:ext>
            </a:extLst>
          </p:cNvPr>
          <p:cNvSpPr txBox="1"/>
          <p:nvPr/>
        </p:nvSpPr>
        <p:spPr>
          <a:xfrm>
            <a:off x="454093" y="9125009"/>
            <a:ext cx="27801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6303E"/>
                </a:solidFill>
                <a:latin typeface="Aptos"/>
              </a:defRPr>
            </a:pPr>
            <a:r>
              <a:rPr lang="en-US" sz="2000"/>
              <a:t>Too little stock may fail to meet future demand.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8837F4A-60F9-23BC-548C-2BF4D2C263BB}"/>
              </a:ext>
            </a:extLst>
          </p:cNvPr>
          <p:cNvSpPr txBox="1"/>
          <p:nvPr/>
        </p:nvSpPr>
        <p:spPr>
          <a:xfrm>
            <a:off x="5378397" y="8714585"/>
            <a:ext cx="37656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C2340"/>
                </a:solidFill>
                <a:latin typeface="Aptos"/>
              </a:defRPr>
            </a:pPr>
            <a:r>
              <a:rPr lang="en-US" sz="2400" b="1">
                <a:solidFill>
                  <a:srgbClr val="0C23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OVERSTOCK RISK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67F3C8A-A748-5465-8994-FAA950DBF046}"/>
              </a:ext>
            </a:extLst>
          </p:cNvPr>
          <p:cNvSpPr txBox="1"/>
          <p:nvPr/>
        </p:nvSpPr>
        <p:spPr>
          <a:xfrm>
            <a:off x="5339041" y="9176250"/>
            <a:ext cx="39644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6303E"/>
                </a:solidFill>
                <a:latin typeface="Aptos"/>
              </a:defRPr>
            </a:pPr>
            <a:r>
              <a:rPr lang="en-US" sz="2000">
                <a:solidFill>
                  <a:srgbClr val="26303E"/>
                </a:solidFill>
                <a:latin typeface="Aptos"/>
              </a:rPr>
              <a:t>Too much stock can create unnecessary inventory.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2FE8CC3-17C1-74F8-CCF6-3176F927915E}"/>
              </a:ext>
            </a:extLst>
          </p:cNvPr>
          <p:cNvSpPr txBox="1"/>
          <p:nvPr/>
        </p:nvSpPr>
        <p:spPr>
          <a:xfrm>
            <a:off x="9601200" y="2105523"/>
            <a:ext cx="958668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An AI-based decision-support system connecting demand prediction with stock assessment</a:t>
            </a: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8A2814E3-1716-3788-42F6-4CDD0ECDED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089952" y="3185059"/>
            <a:ext cx="7359848" cy="5631544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0B0FA15C-A910-5A15-4F3D-29F39272ABAE}"/>
              </a:ext>
            </a:extLst>
          </p:cNvPr>
          <p:cNvSpPr txBox="1"/>
          <p:nvPr/>
        </p:nvSpPr>
        <p:spPr>
          <a:xfrm>
            <a:off x="9791332" y="8991584"/>
            <a:ext cx="821634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C2340"/>
                </a:solidFill>
                <a:latin typeface="Aptos"/>
              </a:defRPr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Decision support — the system does not automatically purchase medicines</a:t>
            </a:r>
            <a:r>
              <a:rPr lang="en-US" sz="1800"/>
              <a:t>.</a:t>
            </a:r>
          </a:p>
        </p:txBody>
      </p:sp>
      <p:sp>
        <p:nvSpPr>
          <p:cNvPr id="66" name="Freeform 10">
            <a:extLst>
              <a:ext uri="{FF2B5EF4-FFF2-40B4-BE49-F238E27FC236}">
                <a16:creationId xmlns:a16="http://schemas.microsoft.com/office/drawing/2014/main" id="{FFB04902-D160-875E-B96E-CE4524831F23}"/>
              </a:ext>
            </a:extLst>
          </p:cNvPr>
          <p:cNvSpPr/>
          <p:nvPr/>
        </p:nvSpPr>
        <p:spPr>
          <a:xfrm>
            <a:off x="81460" y="100162"/>
            <a:ext cx="1469349" cy="707886"/>
          </a:xfrm>
          <a:custGeom>
            <a:avLst/>
            <a:gdLst/>
            <a:ahLst/>
            <a:cxnLst/>
            <a:rect l="l" t="t" r="r" b="b"/>
            <a:pathLst>
              <a:path w="2792914" h="2193707">
                <a:moveTo>
                  <a:pt x="0" y="0"/>
                </a:moveTo>
                <a:lnTo>
                  <a:pt x="2792915" y="0"/>
                </a:lnTo>
                <a:lnTo>
                  <a:pt x="2792915" y="2193708"/>
                </a:lnTo>
                <a:lnTo>
                  <a:pt x="0" y="21937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E6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4"/>
          <p:cNvSpPr/>
          <p:nvPr/>
        </p:nvSpPr>
        <p:spPr>
          <a:xfrm>
            <a:off x="15087600" y="161042"/>
            <a:ext cx="2929220" cy="484653"/>
          </a:xfrm>
          <a:custGeom>
            <a:avLst/>
            <a:gdLst/>
            <a:ahLst/>
            <a:cxnLst/>
            <a:rect l="l" t="t" r="r" b="b"/>
            <a:pathLst>
              <a:path w="2929220" h="484653">
                <a:moveTo>
                  <a:pt x="0" y="0"/>
                </a:moveTo>
                <a:lnTo>
                  <a:pt x="2929221" y="0"/>
                </a:lnTo>
                <a:lnTo>
                  <a:pt x="2929221" y="484652"/>
                </a:lnTo>
                <a:lnTo>
                  <a:pt x="0" y="4846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182994-EC7A-AB99-0049-B9893D53A582}"/>
              </a:ext>
            </a:extLst>
          </p:cNvPr>
          <p:cNvSpPr txBox="1"/>
          <p:nvPr/>
        </p:nvSpPr>
        <p:spPr>
          <a:xfrm>
            <a:off x="3785938" y="597880"/>
            <a:ext cx="113016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0C2340"/>
                </a:solidFill>
                <a:latin typeface="Aptos Display"/>
              </a:defRPr>
            </a:pPr>
            <a:r>
              <a:rPr lang="en-US" sz="4800">
                <a:latin typeface="Times New Roman" panose="02020603050405020304" pitchFamily="18" charset="0"/>
                <a:cs typeface="Times New Roman" panose="02020603050405020304" pitchFamily="18" charset="0"/>
              </a:rPr>
              <a:t>AI TECHNIQUES CONSIDERED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FB0A1B1-C2FB-5421-E57D-EFB5C1F2D254}"/>
              </a:ext>
            </a:extLst>
          </p:cNvPr>
          <p:cNvSpPr/>
          <p:nvPr/>
        </p:nvSpPr>
        <p:spPr>
          <a:xfrm>
            <a:off x="670560" y="2689860"/>
            <a:ext cx="5318760" cy="2895600"/>
          </a:xfrm>
          <a:prstGeom prst="roundRect">
            <a:avLst/>
          </a:prstGeom>
          <a:solidFill>
            <a:srgbClr val="88A201"/>
          </a:solidFill>
        </p:spPr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5BD6D1D-4FEC-3EC6-8C8C-40CAD207048A}"/>
              </a:ext>
            </a:extLst>
          </p:cNvPr>
          <p:cNvSpPr/>
          <p:nvPr/>
        </p:nvSpPr>
        <p:spPr>
          <a:xfrm>
            <a:off x="12532926" y="2702225"/>
            <a:ext cx="5486400" cy="2895600"/>
          </a:xfrm>
          <a:prstGeom prst="roundRect">
            <a:avLst/>
          </a:prstGeom>
          <a:solidFill>
            <a:srgbClr val="88A201"/>
          </a:solidFill>
        </p:spPr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F4EFE9F-2A12-E58B-0B49-A798D5585744}"/>
              </a:ext>
            </a:extLst>
          </p:cNvPr>
          <p:cNvSpPr/>
          <p:nvPr/>
        </p:nvSpPr>
        <p:spPr>
          <a:xfrm>
            <a:off x="6400800" y="2710314"/>
            <a:ext cx="5486400" cy="2895600"/>
          </a:xfrm>
          <a:prstGeom prst="roundRect">
            <a:avLst/>
          </a:prstGeom>
          <a:solidFill>
            <a:srgbClr val="88A201"/>
          </a:solidFill>
        </p:spPr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C36A65-95E9-BE8F-EC9D-EA490C4F56F0}"/>
              </a:ext>
            </a:extLst>
          </p:cNvPr>
          <p:cNvSpPr txBox="1"/>
          <p:nvPr/>
        </p:nvSpPr>
        <p:spPr>
          <a:xfrm>
            <a:off x="1087656" y="2948940"/>
            <a:ext cx="51455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C2340"/>
                </a:solidFill>
                <a:latin typeface="Aptos"/>
              </a:defRPr>
            </a:pP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FD9F15E-24ED-7F2B-E419-63DC7E7A62F0}"/>
              </a:ext>
            </a:extLst>
          </p:cNvPr>
          <p:cNvSpPr txBox="1"/>
          <p:nvPr/>
        </p:nvSpPr>
        <p:spPr>
          <a:xfrm>
            <a:off x="1082040" y="3746121"/>
            <a:ext cx="575510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 sz="1200">
                <a:solidFill>
                  <a:srgbClr val="26303E"/>
                </a:solidFill>
                <a:latin typeface="Aptos"/>
              </a:defRPr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Baseline prediction</a:t>
            </a:r>
          </a:p>
          <a:p>
            <a:pPr marL="457200" indent="-457200">
              <a:buFont typeface="Arial" panose="020B0604020202020204" pitchFamily="34" charset="0"/>
              <a:buChar char="•"/>
              <a:defRPr sz="1200">
                <a:solidFill>
                  <a:srgbClr val="26303E"/>
                </a:solidFill>
                <a:latin typeface="Aptos"/>
              </a:defRPr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Simple reference model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CC2518D-8E08-EB16-62B4-2B6C5A8ED262}"/>
              </a:ext>
            </a:extLst>
          </p:cNvPr>
          <p:cNvSpPr txBox="1"/>
          <p:nvPr/>
        </p:nvSpPr>
        <p:spPr>
          <a:xfrm>
            <a:off x="6873240" y="3098230"/>
            <a:ext cx="73753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C2340"/>
                </a:solidFill>
                <a:latin typeface="Aptos"/>
              </a:defRPr>
            </a:pPr>
            <a:r>
              <a:rPr lang="en-US" sz="3600" b="1">
                <a:solidFill>
                  <a:srgbClr val="0C23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0BD9891-C2FF-9665-B67F-FA77435B505D}"/>
              </a:ext>
            </a:extLst>
          </p:cNvPr>
          <p:cNvSpPr txBox="1"/>
          <p:nvPr/>
        </p:nvSpPr>
        <p:spPr>
          <a:xfrm>
            <a:off x="6873240" y="3982082"/>
            <a:ext cx="64008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 sz="1200">
                <a:solidFill>
                  <a:srgbClr val="26303E"/>
                </a:solidFill>
                <a:latin typeface="Aptos"/>
              </a:defRPr>
            </a:pPr>
            <a:r>
              <a:rPr lang="en-US" sz="3200">
                <a:solidFill>
                  <a:srgbClr val="2630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Nonlinear prediction</a:t>
            </a:r>
          </a:p>
          <a:p>
            <a:pPr marL="457200" indent="-457200">
              <a:buFont typeface="Arial" panose="020B0604020202020204" pitchFamily="34" charset="0"/>
              <a:buChar char="•"/>
              <a:defRPr sz="1200">
                <a:solidFill>
                  <a:srgbClr val="26303E"/>
                </a:solidFill>
                <a:latin typeface="Aptos"/>
              </a:defRPr>
            </a:pPr>
            <a:r>
              <a:rPr lang="en-US" sz="3200">
                <a:solidFill>
                  <a:srgbClr val="2630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Handles multiple features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031ABEA-DF30-197A-2122-C5567A92715C}"/>
              </a:ext>
            </a:extLst>
          </p:cNvPr>
          <p:cNvSpPr txBox="1"/>
          <p:nvPr/>
        </p:nvSpPr>
        <p:spPr>
          <a:xfrm>
            <a:off x="12807246" y="3096915"/>
            <a:ext cx="56107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C2340"/>
                </a:solidFill>
                <a:latin typeface="Aptos"/>
              </a:defRPr>
            </a:pPr>
            <a:r>
              <a:rPr lang="en-US" sz="3600" b="1">
                <a:solidFill>
                  <a:srgbClr val="0C23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LSTM Neural Network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72F711D-35FE-E622-6BC6-C4B6A15DD532}"/>
              </a:ext>
            </a:extLst>
          </p:cNvPr>
          <p:cNvSpPr txBox="1"/>
          <p:nvPr/>
        </p:nvSpPr>
        <p:spPr>
          <a:xfrm>
            <a:off x="12809652" y="4000776"/>
            <a:ext cx="561072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 sz="1200">
                <a:solidFill>
                  <a:srgbClr val="26303E"/>
                </a:solidFill>
                <a:latin typeface="Aptos"/>
              </a:defRPr>
            </a:pPr>
            <a:r>
              <a:rPr lang="en-US" sz="3200">
                <a:solidFill>
                  <a:srgbClr val="2630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Sequential prediction</a:t>
            </a:r>
          </a:p>
          <a:p>
            <a:pPr marL="457200" indent="-457200">
              <a:buFont typeface="Arial" panose="020B0604020202020204" pitchFamily="34" charset="0"/>
              <a:buChar char="•"/>
              <a:defRPr sz="1200">
                <a:solidFill>
                  <a:srgbClr val="26303E"/>
                </a:solidFill>
                <a:latin typeface="Aptos"/>
              </a:defRPr>
            </a:pPr>
            <a:r>
              <a:rPr lang="en-US" sz="3200">
                <a:solidFill>
                  <a:srgbClr val="2630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Learns demand sequences</a:t>
            </a:r>
          </a:p>
        </p:txBody>
      </p:sp>
      <p:sp>
        <p:nvSpPr>
          <p:cNvPr id="49" name="Freeform 14">
            <a:extLst>
              <a:ext uri="{FF2B5EF4-FFF2-40B4-BE49-F238E27FC236}">
                <a16:creationId xmlns:a16="http://schemas.microsoft.com/office/drawing/2014/main" id="{E8A1F1D9-2E6A-2AF6-D1D0-D43CB7B6F28F}"/>
              </a:ext>
            </a:extLst>
          </p:cNvPr>
          <p:cNvSpPr/>
          <p:nvPr/>
        </p:nvSpPr>
        <p:spPr>
          <a:xfrm>
            <a:off x="411480" y="131730"/>
            <a:ext cx="2929220" cy="484653"/>
          </a:xfrm>
          <a:custGeom>
            <a:avLst/>
            <a:gdLst/>
            <a:ahLst/>
            <a:cxnLst/>
            <a:rect l="l" t="t" r="r" b="b"/>
            <a:pathLst>
              <a:path w="2929220" h="484653">
                <a:moveTo>
                  <a:pt x="0" y="0"/>
                </a:moveTo>
                <a:lnTo>
                  <a:pt x="2929221" y="0"/>
                </a:lnTo>
                <a:lnTo>
                  <a:pt x="2929221" y="484652"/>
                </a:lnTo>
                <a:lnTo>
                  <a:pt x="0" y="4846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53C741-9657-F54B-ACF4-14841154BE10}"/>
              </a:ext>
            </a:extLst>
          </p:cNvPr>
          <p:cNvSpPr txBox="1"/>
          <p:nvPr/>
        </p:nvSpPr>
        <p:spPr>
          <a:xfrm>
            <a:off x="908224" y="6185420"/>
            <a:ext cx="575098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rgbClr val="0C23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Metrics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1DF1100-8EB9-B379-00C3-5B12306974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169233"/>
              </p:ext>
            </p:extLst>
          </p:nvPr>
        </p:nvGraphicFramePr>
        <p:xfrm>
          <a:off x="914400" y="7147560"/>
          <a:ext cx="14575209" cy="2739968"/>
        </p:xfrm>
        <a:graphic>
          <a:graphicData uri="http://schemas.openxmlformats.org/drawingml/2006/table">
            <a:tbl>
              <a:tblPr bandRow="1">
                <a:tableStyleId>{3C2FFA5D-87B4-456A-9821-1D502468CF0F}</a:tableStyleId>
              </a:tblPr>
              <a:tblGrid>
                <a:gridCol w="4847334">
                  <a:extLst>
                    <a:ext uri="{9D8B030D-6E8A-4147-A177-3AD203B41FA5}">
                      <a16:colId xmlns:a16="http://schemas.microsoft.com/office/drawing/2014/main" val="3011307566"/>
                    </a:ext>
                  </a:extLst>
                </a:gridCol>
                <a:gridCol w="6672129">
                  <a:extLst>
                    <a:ext uri="{9D8B030D-6E8A-4147-A177-3AD203B41FA5}">
                      <a16:colId xmlns:a16="http://schemas.microsoft.com/office/drawing/2014/main" val="1432993407"/>
                    </a:ext>
                  </a:extLst>
                </a:gridCol>
                <a:gridCol w="3055746">
                  <a:extLst>
                    <a:ext uri="{9D8B030D-6E8A-4147-A177-3AD203B41FA5}">
                      <a16:colId xmlns:a16="http://schemas.microsoft.com/office/drawing/2014/main" val="2988054298"/>
                    </a:ext>
                  </a:extLst>
                </a:gridCol>
              </a:tblGrid>
              <a:tr h="684992"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US" sz="3200" b="1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Metric</a:t>
                      </a:r>
                      <a:endParaRPr lang="en-US" sz="3200" b="1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US" sz="3200" b="1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What it Measures</a:t>
                      </a:r>
                      <a:endParaRPr lang="en-US" sz="3200" b="1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US" sz="3200" b="1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Better Value</a:t>
                      </a:r>
                      <a:endParaRPr lang="en-US" sz="3200" b="1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5739183"/>
                  </a:ext>
                </a:extLst>
              </a:tr>
              <a:tr h="684992"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US" sz="2800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MAE</a:t>
                      </a:r>
                      <a:endParaRPr lang="en-US" sz="280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lvl="0" algn="ctr">
                        <a:buNone/>
                      </a:pPr>
                      <a:r>
                        <a:rPr lang="en-US" sz="28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Average prediction error</a:t>
                      </a:r>
                      <a:endParaRPr lang="en-US" b="0" i="0" u="none" strike="noStrike" noProof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US" sz="2800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↓ Lower</a:t>
                      </a:r>
                      <a:endParaRPr lang="en-US" sz="280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04302391"/>
                  </a:ext>
                </a:extLst>
              </a:tr>
              <a:tr h="684992"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US" sz="2800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RMSE</a:t>
                      </a:r>
                      <a:endParaRPr lang="en-US" sz="280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lvl="0" algn="ctr">
                        <a:buNone/>
                      </a:pPr>
                      <a:r>
                        <a:rPr lang="en-US" sz="28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Prediction error, emphasizing larger errors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US" sz="2800" kern="12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↓ Lower</a:t>
                      </a:r>
                      <a:endParaRPr lang="en-US" sz="280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77425701"/>
                  </a:ext>
                </a:extLst>
              </a:tr>
              <a:tr h="684992"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US" sz="2800" kern="120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MAPE</a:t>
                      </a:r>
                      <a:endParaRPr lang="en-US" sz="2800" kern="120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lvl="0" algn="ctr">
                        <a:buNone/>
                      </a:pPr>
                      <a:r>
                        <a:rPr lang="en-US" sz="28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Percentage prediction error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↓ Lower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2702584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E6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695B98-2C50-AE34-DDB5-5E7EC2814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50DF489A-BA73-9CF7-5546-CAA3A764E5B5}"/>
              </a:ext>
            </a:extLst>
          </p:cNvPr>
          <p:cNvSpPr txBox="1"/>
          <p:nvPr/>
        </p:nvSpPr>
        <p:spPr>
          <a:xfrm>
            <a:off x="990600" y="495300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82B44"/>
                </a:solidFill>
                <a:latin typeface="Aptos Display"/>
              </a:defRPr>
            </a:pPr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WHY RANDOM FOREST?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6F973A-57DE-7880-49CA-9593DF383BAD}"/>
              </a:ext>
            </a:extLst>
          </p:cNvPr>
          <p:cNvSpPr txBox="1"/>
          <p:nvPr/>
        </p:nvSpPr>
        <p:spPr>
          <a:xfrm>
            <a:off x="990600" y="1866900"/>
            <a:ext cx="11734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We compared approaches and selected the best practical balance</a:t>
            </a: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C29F5DC3-7229-FBE4-8333-B09549137F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485916"/>
              </p:ext>
            </p:extLst>
          </p:nvPr>
        </p:nvGraphicFramePr>
        <p:xfrm>
          <a:off x="990600" y="3115389"/>
          <a:ext cx="16383000" cy="545711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095750">
                  <a:extLst>
                    <a:ext uri="{9D8B030D-6E8A-4147-A177-3AD203B41FA5}">
                      <a16:colId xmlns:a16="http://schemas.microsoft.com/office/drawing/2014/main" val="527541441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4090704255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1041852937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27537728"/>
                    </a:ext>
                  </a:extLst>
                </a:gridCol>
              </a:tblGrid>
              <a:tr h="11235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Model</a:t>
                      </a:r>
                    </a:p>
                    <a:p>
                      <a:pPr algn="ctr"/>
                      <a:endParaRPr lang="en-US" sz="3200" b="1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Strength</a:t>
                      </a:r>
                    </a:p>
                    <a:p>
                      <a:pPr algn="ctr"/>
                      <a:endParaRPr lang="en-US" sz="3200" b="1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Limitation</a:t>
                      </a:r>
                    </a:p>
                    <a:p>
                      <a:pPr algn="ctr"/>
                      <a:endParaRPr lang="en-US" sz="3200" b="1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kern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Decision</a:t>
                      </a:r>
                    </a:p>
                    <a:p>
                      <a:pPr algn="ctr"/>
                      <a:endParaRPr lang="en-US" sz="3200" b="1" kern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6628241"/>
                  </a:ext>
                </a:extLst>
              </a:tr>
              <a:tr h="14445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Linear Regression</a:t>
                      </a:r>
                    </a:p>
                    <a:p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 and fast</a:t>
                      </a:r>
                    </a:p>
                    <a:p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 simple for complex patterns</a:t>
                      </a:r>
                    </a:p>
                    <a:p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selected</a:t>
                      </a:r>
                    </a:p>
                    <a:p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5740390"/>
                  </a:ext>
                </a:extLst>
              </a:tr>
              <a:tr h="14445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</a:t>
                      </a:r>
                    </a:p>
                    <a:p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Robust; handles non-linear features</a:t>
                      </a:r>
                    </a:p>
                    <a:p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Larger model than linear</a:t>
                      </a:r>
                    </a:p>
                    <a:p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SELECTED</a:t>
                      </a:r>
                    </a:p>
                    <a:p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993087"/>
                  </a:ext>
                </a:extLst>
              </a:tr>
              <a:tr h="14445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LSTM / Deep</a:t>
                      </a:r>
                    </a:p>
                    <a:p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 sequential modelling</a:t>
                      </a:r>
                    </a:p>
                    <a:p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More data, tuning and complexity</a:t>
                      </a:r>
                    </a:p>
                    <a:p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selected</a:t>
                      </a:r>
                    </a:p>
                    <a:p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4760923"/>
                  </a:ext>
                </a:extLst>
              </a:tr>
            </a:tbl>
          </a:graphicData>
        </a:graphic>
      </p:graphicFrame>
      <p:sp>
        <p:nvSpPr>
          <p:cNvPr id="30" name="Rounded Rectangle 21">
            <a:extLst>
              <a:ext uri="{FF2B5EF4-FFF2-40B4-BE49-F238E27FC236}">
                <a16:creationId xmlns:a16="http://schemas.microsoft.com/office/drawing/2014/main" id="{F659C0F9-4DB7-798C-E84E-342746D9ACED}"/>
              </a:ext>
            </a:extLst>
          </p:cNvPr>
          <p:cNvSpPr/>
          <p:nvPr/>
        </p:nvSpPr>
        <p:spPr>
          <a:xfrm>
            <a:off x="1016000" y="8880745"/>
            <a:ext cx="3505200" cy="710935"/>
          </a:xfrm>
          <a:prstGeom prst="roundRect">
            <a:avLst/>
          </a:prstGeom>
          <a:solidFill>
            <a:srgbClr val="27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300 DECISION TREES</a:t>
            </a:r>
          </a:p>
        </p:txBody>
      </p:sp>
      <p:sp>
        <p:nvSpPr>
          <p:cNvPr id="31" name="Rounded Rectangle 22">
            <a:extLst>
              <a:ext uri="{FF2B5EF4-FFF2-40B4-BE49-F238E27FC236}">
                <a16:creationId xmlns:a16="http://schemas.microsoft.com/office/drawing/2014/main" id="{5A8577FB-4862-2F27-E4FE-8B9D6F55A380}"/>
              </a:ext>
            </a:extLst>
          </p:cNvPr>
          <p:cNvSpPr/>
          <p:nvPr/>
        </p:nvSpPr>
        <p:spPr>
          <a:xfrm>
            <a:off x="4800600" y="8880745"/>
            <a:ext cx="3429000" cy="710935"/>
          </a:xfrm>
          <a:prstGeom prst="round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SCALING REQUIRED</a:t>
            </a:r>
          </a:p>
        </p:txBody>
      </p:sp>
      <p:sp>
        <p:nvSpPr>
          <p:cNvPr id="32" name="Rounded Rectangle 23">
            <a:extLst>
              <a:ext uri="{FF2B5EF4-FFF2-40B4-BE49-F238E27FC236}">
                <a16:creationId xmlns:a16="http://schemas.microsoft.com/office/drawing/2014/main" id="{306D4553-7B06-23E7-09BB-6E6F7AFDC95E}"/>
              </a:ext>
            </a:extLst>
          </p:cNvPr>
          <p:cNvSpPr/>
          <p:nvPr/>
        </p:nvSpPr>
        <p:spPr>
          <a:xfrm>
            <a:off x="8509000" y="8880745"/>
            <a:ext cx="3718442" cy="710935"/>
          </a:xfrm>
          <a:prstGeom prst="roundRect">
            <a:avLst/>
          </a:prstGeom>
          <a:solidFill>
            <a:srgbClr val="31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NON-LINEAR PATTERNS</a:t>
            </a:r>
          </a:p>
        </p:txBody>
      </p:sp>
      <p:sp>
        <p:nvSpPr>
          <p:cNvPr id="33" name="Rounded Rectangle 24">
            <a:extLst>
              <a:ext uri="{FF2B5EF4-FFF2-40B4-BE49-F238E27FC236}">
                <a16:creationId xmlns:a16="http://schemas.microsoft.com/office/drawing/2014/main" id="{31342AE1-3EF9-70F2-EEC1-CC9F34B3D1CF}"/>
              </a:ext>
            </a:extLst>
          </p:cNvPr>
          <p:cNvSpPr/>
          <p:nvPr/>
        </p:nvSpPr>
        <p:spPr>
          <a:xfrm>
            <a:off x="12420600" y="8886504"/>
            <a:ext cx="3429000" cy="699416"/>
          </a:xfrm>
          <a:prstGeom prst="roundRect">
            <a:avLst/>
          </a:prstGeom>
          <a:solidFill>
            <a:srgbClr val="DC8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sz="2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</a:t>
            </a:r>
          </a:p>
        </p:txBody>
      </p:sp>
    </p:spTree>
    <p:extLst>
      <p:ext uri="{BB962C8B-B14F-4D97-AF65-F5344CB8AC3E}">
        <p14:creationId xmlns:p14="http://schemas.microsoft.com/office/powerpoint/2010/main" val="4263209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E6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5885264A-B405-467A-81D4-8A5A14FCF4E2}"/>
              </a:ext>
            </a:extLst>
          </p:cNvPr>
          <p:cNvSpPr txBox="1"/>
          <p:nvPr/>
        </p:nvSpPr>
        <p:spPr>
          <a:xfrm>
            <a:off x="838200" y="1854105"/>
            <a:ext cx="95721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The model learns from the past and is tested on later dates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855D148-EBEF-8568-AC8C-F879442337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713" y="1721815"/>
            <a:ext cx="18024287" cy="587750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5D5E047-86E0-E84E-B5C5-7A00F082CBAA}"/>
              </a:ext>
            </a:extLst>
          </p:cNvPr>
          <p:cNvSpPr txBox="1"/>
          <p:nvPr/>
        </p:nvSpPr>
        <p:spPr>
          <a:xfrm>
            <a:off x="649514" y="6523015"/>
            <a:ext cx="9289142" cy="83427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B44"/>
                </a:solidFill>
                <a:latin typeface="Aptos"/>
              </a:defRPr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TRAINING PERIOD - Training data: up to 2025-12-31</a:t>
            </a:r>
          </a:p>
          <a:p>
            <a:pPr>
              <a:defRPr sz="1500" b="1">
                <a:solidFill>
                  <a:srgbClr val="182B44"/>
                </a:solidFill>
                <a:latin typeface="Aptos"/>
              </a:defRPr>
            </a:pPr>
            <a:endParaRPr lang="en-US" sz="15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A625FE-AE5B-B895-D244-3B32DE7AC345}"/>
              </a:ext>
            </a:extLst>
          </p:cNvPr>
          <p:cNvSpPr txBox="1"/>
          <p:nvPr/>
        </p:nvSpPr>
        <p:spPr>
          <a:xfrm>
            <a:off x="685800" y="7629466"/>
            <a:ext cx="9289142" cy="83427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B44"/>
                </a:solidFill>
                <a:latin typeface="Aptos"/>
              </a:defRPr>
            </a:pPr>
            <a:r>
              <a:rPr lang="en-US" sz="2800" b="1">
                <a:solidFill>
                  <a:srgbClr val="182B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PERIOD - Testing begins: 2026-01-01</a:t>
            </a:r>
          </a:p>
          <a:p>
            <a:pPr>
              <a:defRPr sz="1500" b="1">
                <a:solidFill>
                  <a:srgbClr val="182B44"/>
                </a:solidFill>
                <a:latin typeface="Aptos"/>
              </a:defRPr>
            </a:pPr>
            <a:endParaRPr lang="en-US" sz="15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D2AA95-1982-35B3-F806-86DFE12C3542}"/>
              </a:ext>
            </a:extLst>
          </p:cNvPr>
          <p:cNvSpPr txBox="1"/>
          <p:nvPr/>
        </p:nvSpPr>
        <p:spPr>
          <a:xfrm>
            <a:off x="653143" y="8735917"/>
            <a:ext cx="11277600" cy="83427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B44"/>
                </a:solidFill>
                <a:latin typeface="Aptos"/>
              </a:defRPr>
            </a:pPr>
            <a:r>
              <a:rPr lang="en-US" sz="2800" b="1">
                <a:solidFill>
                  <a:srgbClr val="182B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TEMPORAL? - Avoid mixing future information into the past</a:t>
            </a:r>
            <a:r>
              <a:rPr lang="en-US"/>
              <a:t>.</a:t>
            </a:r>
          </a:p>
          <a:p>
            <a:pPr>
              <a:defRPr sz="1500" b="1">
                <a:solidFill>
                  <a:srgbClr val="182B44"/>
                </a:solidFill>
                <a:latin typeface="Aptos"/>
              </a:defRPr>
            </a:pPr>
            <a:endParaRPr lang="en-US" sz="15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E8A426F-9CDE-D3D6-B7C0-8A799B8D382E}"/>
              </a:ext>
            </a:extLst>
          </p:cNvPr>
          <p:cNvSpPr/>
          <p:nvPr/>
        </p:nvSpPr>
        <p:spPr>
          <a:xfrm>
            <a:off x="0" y="-1"/>
            <a:ext cx="18321830" cy="125666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5925D7-CD90-4249-3A91-A7E62F01F79E}"/>
              </a:ext>
            </a:extLst>
          </p:cNvPr>
          <p:cNvSpPr txBox="1"/>
          <p:nvPr/>
        </p:nvSpPr>
        <p:spPr>
          <a:xfrm>
            <a:off x="838200" y="339992"/>
            <a:ext cx="95721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82B44"/>
                </a:solidFill>
                <a:latin typeface="Aptos Display"/>
              </a:defRPr>
            </a:pPr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MACHINE-LEARNING PIPELINE</a:t>
            </a:r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4417838" y="-1929250"/>
            <a:ext cx="3903992" cy="5246370"/>
            <a:chOff x="0" y="0"/>
            <a:chExt cx="3663950" cy="4923790"/>
          </a:xfrm>
        </p:grpSpPr>
        <p:sp>
          <p:nvSpPr>
            <p:cNvPr id="6" name="Freeform 6"/>
            <p:cNvSpPr/>
            <p:nvPr/>
          </p:nvSpPr>
          <p:spPr>
            <a:xfrm>
              <a:off x="31750" y="31750"/>
              <a:ext cx="3600450" cy="4859020"/>
            </a:xfrm>
            <a:custGeom>
              <a:avLst/>
              <a:gdLst/>
              <a:ahLst/>
              <a:cxnLst/>
              <a:rect l="l" t="t" r="r" b="b"/>
              <a:pathLst>
                <a:path w="3600450" h="4859020">
                  <a:moveTo>
                    <a:pt x="3600450" y="4499610"/>
                  </a:moveTo>
                  <a:cubicBezTo>
                    <a:pt x="3600450" y="4699000"/>
                    <a:pt x="3439160" y="4859020"/>
                    <a:pt x="3241040" y="4859020"/>
                  </a:cubicBezTo>
                  <a:lnTo>
                    <a:pt x="359410" y="4859020"/>
                  </a:lnTo>
                  <a:cubicBezTo>
                    <a:pt x="160020" y="4859020"/>
                    <a:pt x="0" y="4697730"/>
                    <a:pt x="0" y="449961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4499610"/>
                  </a:lnTo>
                  <a:close/>
                </a:path>
              </a:pathLst>
            </a:custGeom>
            <a:blipFill>
              <a:blip r:embed="rId4"/>
              <a:stretch>
                <a:fillRect t="-5573" b="-5573"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3662687" cy="4923790"/>
            </a:xfrm>
            <a:custGeom>
              <a:avLst/>
              <a:gdLst/>
              <a:ahLst/>
              <a:cxnLst/>
              <a:rect l="l" t="t" r="r" b="b"/>
              <a:pathLst>
                <a:path w="3662687" h="4923790">
                  <a:moveTo>
                    <a:pt x="3271520" y="4923790"/>
                  </a:moveTo>
                  <a:lnTo>
                    <a:pt x="391160" y="4923790"/>
                  </a:lnTo>
                  <a:cubicBezTo>
                    <a:pt x="175260" y="4923790"/>
                    <a:pt x="0" y="4748530"/>
                    <a:pt x="0" y="4532630"/>
                  </a:cubicBezTo>
                  <a:lnTo>
                    <a:pt x="0" y="39243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4531360"/>
                  </a:lnTo>
                  <a:cubicBezTo>
                    <a:pt x="3663950" y="4747260"/>
                    <a:pt x="3487420" y="4923790"/>
                    <a:pt x="3271520" y="492379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4531360"/>
                  </a:lnTo>
                  <a:cubicBezTo>
                    <a:pt x="63500" y="4712970"/>
                    <a:pt x="210820" y="4859020"/>
                    <a:pt x="391160" y="4859020"/>
                  </a:cubicBezTo>
                  <a:lnTo>
                    <a:pt x="3271520" y="4859020"/>
                  </a:lnTo>
                  <a:cubicBezTo>
                    <a:pt x="3453130" y="4859020"/>
                    <a:pt x="3599180" y="4711700"/>
                    <a:pt x="3599180" y="453136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2E6417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E6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89346B-D856-271A-FA0A-7BA58DFA1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D48D6EB-7197-E82C-FC4D-ADA61F4F010E}"/>
              </a:ext>
            </a:extLst>
          </p:cNvPr>
          <p:cNvGrpSpPr/>
          <p:nvPr/>
        </p:nvGrpSpPr>
        <p:grpSpPr>
          <a:xfrm rot="-5400000">
            <a:off x="8810269" y="676629"/>
            <a:ext cx="9829802" cy="8857535"/>
            <a:chOff x="0" y="0"/>
            <a:chExt cx="1693333" cy="96133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61A5DF8-B451-7337-5491-1E7B70873F31}"/>
                </a:ext>
              </a:extLst>
            </p:cNvPr>
            <p:cNvSpPr/>
            <p:nvPr/>
          </p:nvSpPr>
          <p:spPr>
            <a:xfrm>
              <a:off x="0" y="0"/>
              <a:ext cx="1693333" cy="961336"/>
            </a:xfrm>
            <a:custGeom>
              <a:avLst/>
              <a:gdLst/>
              <a:ahLst/>
              <a:cxnLst/>
              <a:rect l="l" t="t" r="r" b="b"/>
              <a:pathLst>
                <a:path w="1693333" h="961336">
                  <a:moveTo>
                    <a:pt x="18374" y="0"/>
                  </a:moveTo>
                  <a:lnTo>
                    <a:pt x="1674959" y="0"/>
                  </a:lnTo>
                  <a:cubicBezTo>
                    <a:pt x="1679833" y="0"/>
                    <a:pt x="1684506" y="1936"/>
                    <a:pt x="1687952" y="5382"/>
                  </a:cubicBezTo>
                  <a:cubicBezTo>
                    <a:pt x="1691398" y="8827"/>
                    <a:pt x="1693333" y="13501"/>
                    <a:pt x="1693333" y="18374"/>
                  </a:cubicBezTo>
                  <a:lnTo>
                    <a:pt x="1693333" y="942962"/>
                  </a:lnTo>
                  <a:cubicBezTo>
                    <a:pt x="1693333" y="953110"/>
                    <a:pt x="1685107" y="961336"/>
                    <a:pt x="1674959" y="961336"/>
                  </a:cubicBezTo>
                  <a:lnTo>
                    <a:pt x="18374" y="961336"/>
                  </a:lnTo>
                  <a:cubicBezTo>
                    <a:pt x="8226" y="961336"/>
                    <a:pt x="0" y="953110"/>
                    <a:pt x="0" y="942962"/>
                  </a:cubicBezTo>
                  <a:lnTo>
                    <a:pt x="0" y="18374"/>
                  </a:lnTo>
                  <a:cubicBezTo>
                    <a:pt x="0" y="8226"/>
                    <a:pt x="8226" y="0"/>
                    <a:pt x="18374" y="0"/>
                  </a:cubicBezTo>
                  <a:close/>
                </a:path>
              </a:pathLst>
            </a:custGeom>
            <a:solidFill>
              <a:srgbClr val="2E6417"/>
            </a:solidFill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FC0D85C-E5D6-CA57-AF1D-4956AA8E898A}"/>
                </a:ext>
              </a:extLst>
            </p:cNvPr>
            <p:cNvSpPr txBox="1"/>
            <p:nvPr/>
          </p:nvSpPr>
          <p:spPr>
            <a:xfrm>
              <a:off x="0" y="-38100"/>
              <a:ext cx="1693333" cy="999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37766FDA-3F55-3547-9768-F8BBC3CEA3BD}"/>
              </a:ext>
            </a:extLst>
          </p:cNvPr>
          <p:cNvGrpSpPr/>
          <p:nvPr/>
        </p:nvGrpSpPr>
        <p:grpSpPr>
          <a:xfrm rot="-5400000">
            <a:off x="-275868" y="600428"/>
            <a:ext cx="9829803" cy="9009937"/>
            <a:chOff x="0" y="0"/>
            <a:chExt cx="1693333" cy="96133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39C6B6A-3920-2C50-A625-5F1CCF8AEDC2}"/>
                </a:ext>
              </a:extLst>
            </p:cNvPr>
            <p:cNvSpPr/>
            <p:nvPr/>
          </p:nvSpPr>
          <p:spPr>
            <a:xfrm>
              <a:off x="0" y="0"/>
              <a:ext cx="1693333" cy="961336"/>
            </a:xfrm>
            <a:custGeom>
              <a:avLst/>
              <a:gdLst/>
              <a:ahLst/>
              <a:cxnLst/>
              <a:rect l="l" t="t" r="r" b="b"/>
              <a:pathLst>
                <a:path w="1693333" h="961336">
                  <a:moveTo>
                    <a:pt x="18374" y="0"/>
                  </a:moveTo>
                  <a:lnTo>
                    <a:pt x="1674959" y="0"/>
                  </a:lnTo>
                  <a:cubicBezTo>
                    <a:pt x="1679833" y="0"/>
                    <a:pt x="1684506" y="1936"/>
                    <a:pt x="1687952" y="5382"/>
                  </a:cubicBezTo>
                  <a:cubicBezTo>
                    <a:pt x="1691398" y="8827"/>
                    <a:pt x="1693333" y="13501"/>
                    <a:pt x="1693333" y="18374"/>
                  </a:cubicBezTo>
                  <a:lnTo>
                    <a:pt x="1693333" y="942962"/>
                  </a:lnTo>
                  <a:cubicBezTo>
                    <a:pt x="1693333" y="953110"/>
                    <a:pt x="1685107" y="961336"/>
                    <a:pt x="1674959" y="961336"/>
                  </a:cubicBezTo>
                  <a:lnTo>
                    <a:pt x="18374" y="961336"/>
                  </a:lnTo>
                  <a:cubicBezTo>
                    <a:pt x="8226" y="961336"/>
                    <a:pt x="0" y="953110"/>
                    <a:pt x="0" y="942962"/>
                  </a:cubicBezTo>
                  <a:lnTo>
                    <a:pt x="0" y="18374"/>
                  </a:lnTo>
                  <a:cubicBezTo>
                    <a:pt x="0" y="8226"/>
                    <a:pt x="8226" y="0"/>
                    <a:pt x="18374" y="0"/>
                  </a:cubicBezTo>
                  <a:close/>
                </a:path>
              </a:pathLst>
            </a:custGeom>
            <a:solidFill>
              <a:srgbClr val="88A20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8A350E33-0ACB-9383-97A7-FAD29F06F541}"/>
                </a:ext>
              </a:extLst>
            </p:cNvPr>
            <p:cNvSpPr txBox="1"/>
            <p:nvPr/>
          </p:nvSpPr>
          <p:spPr>
            <a:xfrm>
              <a:off x="0" y="-38100"/>
              <a:ext cx="1693333" cy="999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0DB7D03A-BA07-5298-E687-EEAF809AE525}"/>
              </a:ext>
            </a:extLst>
          </p:cNvPr>
          <p:cNvSpPr txBox="1"/>
          <p:nvPr/>
        </p:nvSpPr>
        <p:spPr>
          <a:xfrm>
            <a:off x="247953" y="683176"/>
            <a:ext cx="92528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82B44"/>
                </a:solidFill>
                <a:latin typeface="Aptos Display"/>
              </a:defRPr>
            </a:pP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WHAT THE MODEL LEARNS FROM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5664E2-9918-17F4-C26D-5D8B01F7D8B8}"/>
              </a:ext>
            </a:extLst>
          </p:cNvPr>
          <p:cNvSpPr txBox="1"/>
          <p:nvPr/>
        </p:nvSpPr>
        <p:spPr>
          <a:xfrm>
            <a:off x="972536" y="1943100"/>
            <a:ext cx="772990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converts raw sales history into useful signals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B16C332-EFDC-2BC2-FD9C-F13517EE83F3}"/>
              </a:ext>
            </a:extLst>
          </p:cNvPr>
          <p:cNvSpPr txBox="1"/>
          <p:nvPr/>
        </p:nvSpPr>
        <p:spPr>
          <a:xfrm>
            <a:off x="858647" y="3771900"/>
            <a:ext cx="7729904" cy="4784288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 sz="1500" b="1">
                <a:solidFill>
                  <a:srgbClr val="182B44"/>
                </a:solidFill>
                <a:latin typeface="Aptos"/>
              </a:defRPr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DAY OF WEEK - Monday vs. weekend effects</a:t>
            </a:r>
          </a:p>
          <a:p>
            <a:pPr marL="457200" indent="-457200">
              <a:buFont typeface="Arial" panose="020B0604020202020204" pitchFamily="34" charset="0"/>
              <a:buChar char="•"/>
              <a:defRPr sz="1500" b="1">
                <a:solidFill>
                  <a:srgbClr val="182B44"/>
                </a:solidFill>
                <a:latin typeface="Aptos"/>
              </a:defRPr>
            </a:pPr>
            <a:endParaRPr lang="en-US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  <a:defRPr sz="1500" b="1">
                <a:solidFill>
                  <a:srgbClr val="182B44"/>
                </a:solidFill>
                <a:latin typeface="Aptos"/>
              </a:defRPr>
            </a:pPr>
            <a:r>
              <a:rPr lang="nn-NO" sz="2600">
                <a:latin typeface="Times New Roman" panose="02020603050405020304" pitchFamily="18" charset="0"/>
                <a:cs typeface="Times New Roman" panose="02020603050405020304" pitchFamily="18" charset="0"/>
              </a:rPr>
              <a:t>LAG 1 / 7 / 14 / 30 - </a:t>
            </a: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Recent and recurring history</a:t>
            </a:r>
          </a:p>
          <a:p>
            <a:pPr marL="457200" indent="-457200">
              <a:buFont typeface="Arial" panose="020B0604020202020204" pitchFamily="34" charset="0"/>
              <a:buChar char="•"/>
              <a:defRPr sz="1500" b="1">
                <a:solidFill>
                  <a:srgbClr val="182B44"/>
                </a:solidFill>
                <a:latin typeface="Aptos"/>
              </a:defRPr>
            </a:pPr>
            <a:endParaRPr lang="nn-NO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  <a:defRPr sz="1500" b="1">
                <a:solidFill>
                  <a:srgbClr val="182B44"/>
                </a:solidFill>
                <a:latin typeface="Aptos"/>
              </a:defRPr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ROLLING MEAN - Recent average demand</a:t>
            </a:r>
          </a:p>
          <a:p>
            <a:pPr marL="457200" indent="-457200">
              <a:buFont typeface="Arial" panose="020B0604020202020204" pitchFamily="34" charset="0"/>
              <a:buChar char="•"/>
              <a:defRPr sz="1500" b="1">
                <a:solidFill>
                  <a:srgbClr val="182B44"/>
                </a:solidFill>
                <a:latin typeface="Aptos"/>
              </a:defRPr>
            </a:pPr>
            <a:endParaRPr lang="en-US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  <a:defRPr sz="1500" b="1">
                <a:solidFill>
                  <a:srgbClr val="182B44"/>
                </a:solidFill>
                <a:latin typeface="Aptos"/>
              </a:defRPr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ROLLING STD – Recent demand variability</a:t>
            </a:r>
          </a:p>
          <a:p>
            <a:pPr marL="457200" indent="-457200">
              <a:buFont typeface="Arial" panose="020B0604020202020204" pitchFamily="34" charset="0"/>
              <a:buChar char="•"/>
              <a:defRPr sz="1500" b="1">
                <a:solidFill>
                  <a:srgbClr val="182B44"/>
                </a:solidFill>
                <a:latin typeface="Aptos"/>
              </a:defRPr>
            </a:pPr>
            <a:endParaRPr lang="en-US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  <a:defRPr sz="1500" b="1">
                <a:solidFill>
                  <a:srgbClr val="182B44"/>
                </a:solidFill>
                <a:latin typeface="Aptos"/>
              </a:defRPr>
            </a:pPr>
            <a:r>
              <a:rPr 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DATE FEATURES – Month/calendar position</a:t>
            </a:r>
            <a:endParaRPr lang="nn-NO" sz="2600"/>
          </a:p>
          <a:p>
            <a:pPr marL="285750" indent="-285750">
              <a:buFont typeface="Arial" panose="020B0604020202020204" pitchFamily="34" charset="0"/>
              <a:buChar char="•"/>
              <a:defRPr sz="1500" b="1">
                <a:solidFill>
                  <a:srgbClr val="182B44"/>
                </a:solidFill>
                <a:latin typeface="Aptos"/>
              </a:defRPr>
            </a:pPr>
            <a:endParaRPr lang="en-US" sz="15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A9B9093-B70F-F148-98FC-689D91E01409}"/>
              </a:ext>
            </a:extLst>
          </p:cNvPr>
          <p:cNvSpPr txBox="1"/>
          <p:nvPr/>
        </p:nvSpPr>
        <p:spPr>
          <a:xfrm>
            <a:off x="9144000" y="647700"/>
            <a:ext cx="9252856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82B44"/>
                </a:solidFill>
                <a:latin typeface="Aptos Display"/>
              </a:defRPr>
            </a:pPr>
            <a:r>
              <a:rPr lang="en-US" sz="3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CLOSED DAYS ARE NOT ZERO-SALES DAYS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FEC4AE7-CCFB-9AAA-41CC-01B7085B406E}"/>
              </a:ext>
            </a:extLst>
          </p:cNvPr>
          <p:cNvSpPr txBox="1"/>
          <p:nvPr/>
        </p:nvSpPr>
        <p:spPr>
          <a:xfrm>
            <a:off x="9940371" y="2171699"/>
            <a:ext cx="721855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business rule protects the meaning of the training data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A8C8E97-592A-A2CA-6DCE-11362599BBC8}"/>
              </a:ext>
            </a:extLst>
          </p:cNvPr>
          <p:cNvSpPr txBox="1"/>
          <p:nvPr/>
        </p:nvSpPr>
        <p:spPr>
          <a:xfrm>
            <a:off x="9940371" y="3285498"/>
            <a:ext cx="5638800" cy="231552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2B44"/>
                </a:solidFill>
                <a:latin typeface="Aptos"/>
              </a:defRPr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OPEN DAY </a:t>
            </a:r>
          </a:p>
          <a:p>
            <a:pPr>
              <a:defRPr sz="1800" b="1">
                <a:solidFill>
                  <a:srgbClr val="182B44"/>
                </a:solidFill>
                <a:latin typeface="Aptos"/>
              </a:defRPr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Pharmacy operates</a:t>
            </a:r>
            <a:b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Sales are entered</a:t>
            </a:r>
            <a:b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Included in forecasting history</a:t>
            </a:r>
          </a:p>
          <a:p>
            <a:pPr>
              <a:defRPr sz="1800" b="1">
                <a:solidFill>
                  <a:srgbClr val="182B44"/>
                </a:solidFill>
                <a:latin typeface="Aptos"/>
              </a:defRPr>
            </a:pPr>
            <a:endParaRPr lang="en-US" sz="18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86CD224-9520-973D-6450-82AC654231CA}"/>
              </a:ext>
            </a:extLst>
          </p:cNvPr>
          <p:cNvSpPr txBox="1"/>
          <p:nvPr/>
        </p:nvSpPr>
        <p:spPr>
          <a:xfrm>
            <a:off x="9940371" y="5745747"/>
            <a:ext cx="5638800" cy="231552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2B44"/>
                </a:solidFill>
                <a:latin typeface="Aptos"/>
              </a:defRPr>
            </a:pPr>
            <a:r>
              <a:rPr lang="en-US" sz="2800" b="1">
                <a:solidFill>
                  <a:srgbClr val="182B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CLOSED DAY </a:t>
            </a:r>
          </a:p>
          <a:p>
            <a:pPr>
              <a:defRPr sz="1500">
                <a:solidFill>
                  <a:srgbClr val="232A32"/>
                </a:solidFill>
                <a:latin typeface="Aptos"/>
              </a:defRPr>
            </a:pPr>
            <a:r>
              <a:rPr lang="en-US" sz="2800" b="1">
                <a:solidFill>
                  <a:srgbClr val="182B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Pharmacy does not operate</a:t>
            </a:r>
            <a:br>
              <a:rPr lang="en-US" sz="2800" b="1">
                <a:solidFill>
                  <a:srgbClr val="182B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>
                <a:solidFill>
                  <a:srgbClr val="182B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sales row is created</a:t>
            </a:r>
            <a:br>
              <a:rPr lang="en-US" sz="2800" b="1">
                <a:solidFill>
                  <a:srgbClr val="182B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>
                <a:solidFill>
                  <a:srgbClr val="182B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Excluded from ML input</a:t>
            </a:r>
          </a:p>
          <a:p>
            <a:pPr>
              <a:defRPr sz="1800" b="1">
                <a:solidFill>
                  <a:srgbClr val="182B44"/>
                </a:solidFill>
                <a:latin typeface="Aptos"/>
              </a:defRPr>
            </a:pPr>
            <a:endParaRPr lang="en-US" sz="180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360F4D4-7075-D36D-B8BA-CD6E4434D950}"/>
              </a:ext>
            </a:extLst>
          </p:cNvPr>
          <p:cNvSpPr txBox="1"/>
          <p:nvPr/>
        </p:nvSpPr>
        <p:spPr>
          <a:xfrm>
            <a:off x="9677401" y="8205996"/>
            <a:ext cx="8277895" cy="153233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2B44"/>
                </a:solidFill>
                <a:latin typeface="Aptos"/>
              </a:defRPr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WHY IT MATTERS</a:t>
            </a:r>
          </a:p>
          <a:p>
            <a:pPr>
              <a:defRPr sz="1400">
                <a:solidFill>
                  <a:srgbClr val="232A32"/>
                </a:solidFill>
                <a:latin typeface="Aptos"/>
              </a:defRPr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 zero means “operated and sold nothing.”</a:t>
            </a:r>
            <a:b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Closed means “no observation.”</a:t>
            </a:r>
          </a:p>
        </p:txBody>
      </p:sp>
    </p:spTree>
    <p:extLst>
      <p:ext uri="{BB962C8B-B14F-4D97-AF65-F5344CB8AC3E}">
        <p14:creationId xmlns:p14="http://schemas.microsoft.com/office/powerpoint/2010/main" val="1953626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E6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DA80FB-5AC9-9B0F-4309-82AFBCF73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7F99F409-A195-8E59-273F-5EDAB03E2AC9}"/>
              </a:ext>
            </a:extLst>
          </p:cNvPr>
          <p:cNvGrpSpPr/>
          <p:nvPr/>
        </p:nvGrpSpPr>
        <p:grpSpPr>
          <a:xfrm>
            <a:off x="11726039" y="-4346010"/>
            <a:ext cx="6598056" cy="8065300"/>
            <a:chOff x="0" y="15874"/>
            <a:chExt cx="633777" cy="774701"/>
          </a:xfrm>
        </p:grpSpPr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51794405-84D5-B535-72AB-F8C00CC27332}"/>
                </a:ext>
              </a:extLst>
            </p:cNvPr>
            <p:cNvSpPr/>
            <p:nvPr/>
          </p:nvSpPr>
          <p:spPr>
            <a:xfrm>
              <a:off x="0" y="15874"/>
              <a:ext cx="633777" cy="774701"/>
            </a:xfrm>
            <a:custGeom>
              <a:avLst/>
              <a:gdLst/>
              <a:ahLst/>
              <a:cxnLst/>
              <a:rect l="l" t="t" r="r" b="b"/>
              <a:pathLst>
                <a:path w="633777" h="774701">
                  <a:moveTo>
                    <a:pt x="362809" y="13388"/>
                  </a:moveTo>
                  <a:lnTo>
                    <a:pt x="587856" y="156794"/>
                  </a:lnTo>
                  <a:cubicBezTo>
                    <a:pt x="616460" y="175021"/>
                    <a:pt x="633777" y="206590"/>
                    <a:pt x="633777" y="240507"/>
                  </a:cubicBezTo>
                  <a:lnTo>
                    <a:pt x="633777" y="534195"/>
                  </a:lnTo>
                  <a:cubicBezTo>
                    <a:pt x="633777" y="568112"/>
                    <a:pt x="616460" y="599681"/>
                    <a:pt x="587856" y="617908"/>
                  </a:cubicBezTo>
                  <a:lnTo>
                    <a:pt x="362809" y="761314"/>
                  </a:lnTo>
                  <a:cubicBezTo>
                    <a:pt x="334797" y="779164"/>
                    <a:pt x="298980" y="779164"/>
                    <a:pt x="270968" y="761314"/>
                  </a:cubicBezTo>
                  <a:lnTo>
                    <a:pt x="45921" y="617908"/>
                  </a:lnTo>
                  <a:cubicBezTo>
                    <a:pt x="17317" y="599681"/>
                    <a:pt x="0" y="568112"/>
                    <a:pt x="0" y="534195"/>
                  </a:cubicBezTo>
                  <a:lnTo>
                    <a:pt x="0" y="240507"/>
                  </a:lnTo>
                  <a:cubicBezTo>
                    <a:pt x="0" y="206590"/>
                    <a:pt x="17317" y="175021"/>
                    <a:pt x="45921" y="156794"/>
                  </a:cubicBezTo>
                  <a:lnTo>
                    <a:pt x="270968" y="13388"/>
                  </a:lnTo>
                  <a:cubicBezTo>
                    <a:pt x="298980" y="-4462"/>
                    <a:pt x="334797" y="-4462"/>
                    <a:pt x="362809" y="13388"/>
                  </a:cubicBezTo>
                  <a:close/>
                </a:path>
              </a:pathLst>
            </a:custGeom>
            <a:ln w="600075" cap="rnd">
              <a:solidFill>
                <a:srgbClr val="2E6417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17">
              <a:extLst>
                <a:ext uri="{FF2B5EF4-FFF2-40B4-BE49-F238E27FC236}">
                  <a16:creationId xmlns:a16="http://schemas.microsoft.com/office/drawing/2014/main" id="{BD6953D9-89CE-51F9-CEC1-BCBDB7171681}"/>
                </a:ext>
              </a:extLst>
            </p:cNvPr>
            <p:cNvSpPr txBox="1"/>
            <p:nvPr/>
          </p:nvSpPr>
          <p:spPr>
            <a:xfrm>
              <a:off x="85032" y="109645"/>
              <a:ext cx="463712" cy="549099"/>
            </a:xfrm>
            <a:prstGeom prst="rect">
              <a:avLst/>
            </a:prstGeom>
          </p:spPr>
          <p:txBody>
            <a:bodyPr lIns="48041" tIns="48041" rIns="48041" bIns="48041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2B86B79-75B0-2EA9-F02A-19F3275A7C88}"/>
              </a:ext>
            </a:extLst>
          </p:cNvPr>
          <p:cNvGrpSpPr/>
          <p:nvPr/>
        </p:nvGrpSpPr>
        <p:grpSpPr>
          <a:xfrm>
            <a:off x="11963400" y="7124700"/>
            <a:ext cx="6598056" cy="8065300"/>
            <a:chOff x="0" y="15874"/>
            <a:chExt cx="633777" cy="774701"/>
          </a:xfrm>
        </p:grpSpPr>
        <p:sp>
          <p:nvSpPr>
            <p:cNvPr id="41" name="Freeform 16">
              <a:extLst>
                <a:ext uri="{FF2B5EF4-FFF2-40B4-BE49-F238E27FC236}">
                  <a16:creationId xmlns:a16="http://schemas.microsoft.com/office/drawing/2014/main" id="{9708DCF7-0039-502E-63F4-6C7BB6BDDF8B}"/>
                </a:ext>
              </a:extLst>
            </p:cNvPr>
            <p:cNvSpPr/>
            <p:nvPr/>
          </p:nvSpPr>
          <p:spPr>
            <a:xfrm>
              <a:off x="0" y="15874"/>
              <a:ext cx="633777" cy="774701"/>
            </a:xfrm>
            <a:custGeom>
              <a:avLst/>
              <a:gdLst/>
              <a:ahLst/>
              <a:cxnLst/>
              <a:rect l="l" t="t" r="r" b="b"/>
              <a:pathLst>
                <a:path w="633777" h="774701">
                  <a:moveTo>
                    <a:pt x="362809" y="13388"/>
                  </a:moveTo>
                  <a:lnTo>
                    <a:pt x="587856" y="156794"/>
                  </a:lnTo>
                  <a:cubicBezTo>
                    <a:pt x="616460" y="175021"/>
                    <a:pt x="633777" y="206590"/>
                    <a:pt x="633777" y="240507"/>
                  </a:cubicBezTo>
                  <a:lnTo>
                    <a:pt x="633777" y="534195"/>
                  </a:lnTo>
                  <a:cubicBezTo>
                    <a:pt x="633777" y="568112"/>
                    <a:pt x="616460" y="599681"/>
                    <a:pt x="587856" y="617908"/>
                  </a:cubicBezTo>
                  <a:lnTo>
                    <a:pt x="362809" y="761314"/>
                  </a:lnTo>
                  <a:cubicBezTo>
                    <a:pt x="334797" y="779164"/>
                    <a:pt x="298980" y="779164"/>
                    <a:pt x="270968" y="761314"/>
                  </a:cubicBezTo>
                  <a:lnTo>
                    <a:pt x="45921" y="617908"/>
                  </a:lnTo>
                  <a:cubicBezTo>
                    <a:pt x="17317" y="599681"/>
                    <a:pt x="0" y="568112"/>
                    <a:pt x="0" y="534195"/>
                  </a:cubicBezTo>
                  <a:lnTo>
                    <a:pt x="0" y="240507"/>
                  </a:lnTo>
                  <a:cubicBezTo>
                    <a:pt x="0" y="206590"/>
                    <a:pt x="17317" y="175021"/>
                    <a:pt x="45921" y="156794"/>
                  </a:cubicBezTo>
                  <a:lnTo>
                    <a:pt x="270968" y="13388"/>
                  </a:lnTo>
                  <a:cubicBezTo>
                    <a:pt x="298980" y="-4462"/>
                    <a:pt x="334797" y="-4462"/>
                    <a:pt x="362809" y="13388"/>
                  </a:cubicBezTo>
                  <a:close/>
                </a:path>
              </a:pathLst>
            </a:custGeom>
            <a:ln w="600075" cap="rnd">
              <a:solidFill>
                <a:srgbClr val="2E6417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17">
              <a:extLst>
                <a:ext uri="{FF2B5EF4-FFF2-40B4-BE49-F238E27FC236}">
                  <a16:creationId xmlns:a16="http://schemas.microsoft.com/office/drawing/2014/main" id="{7D580245-32CB-C6F0-03EC-212E96D2033D}"/>
                </a:ext>
              </a:extLst>
            </p:cNvPr>
            <p:cNvSpPr txBox="1"/>
            <p:nvPr/>
          </p:nvSpPr>
          <p:spPr>
            <a:xfrm>
              <a:off x="85032" y="109645"/>
              <a:ext cx="463712" cy="549099"/>
            </a:xfrm>
            <a:prstGeom prst="rect">
              <a:avLst/>
            </a:prstGeom>
          </p:spPr>
          <p:txBody>
            <a:bodyPr lIns="48041" tIns="48041" rIns="48041" bIns="48041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9D09BD-10FE-F4EA-8E02-1B269DE7D864}"/>
              </a:ext>
            </a:extLst>
          </p:cNvPr>
          <p:cNvSpPr txBox="1"/>
          <p:nvPr/>
        </p:nvSpPr>
        <p:spPr>
          <a:xfrm>
            <a:off x="914400" y="495300"/>
            <a:ext cx="8153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82B44"/>
                </a:solidFill>
                <a:latin typeface="Aptos Display"/>
              </a:defRPr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POSTGRESQL: OUR SOURCE OF TRUTH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0C258E-2789-C58D-A7FE-BA01467D3DA0}"/>
              </a:ext>
            </a:extLst>
          </p:cNvPr>
          <p:cNvSpPr txBox="1"/>
          <p:nvPr/>
        </p:nvSpPr>
        <p:spPr>
          <a:xfrm>
            <a:off x="533400" y="1562100"/>
            <a:ext cx="98479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All important operational data is centralized in one database</a:t>
            </a: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2836EFF2-2A2C-7607-B286-B54C44CF552B}"/>
              </a:ext>
            </a:extLst>
          </p:cNvPr>
          <p:cNvSpPr/>
          <p:nvPr/>
        </p:nvSpPr>
        <p:spPr>
          <a:xfrm>
            <a:off x="1448831" y="2371242"/>
            <a:ext cx="3886200" cy="3581397"/>
          </a:xfrm>
          <a:prstGeom prst="flowChartConnector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B9B89868-80D0-2BC3-91BF-D5573AD2D9FE}"/>
              </a:ext>
            </a:extLst>
          </p:cNvPr>
          <p:cNvSpPr/>
          <p:nvPr/>
        </p:nvSpPr>
        <p:spPr>
          <a:xfrm>
            <a:off x="13597617" y="2371242"/>
            <a:ext cx="3886200" cy="3581397"/>
          </a:xfrm>
          <a:prstGeom prst="flowChartConnector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363ACB07-A3A2-8BB7-E21E-43C97522487B}"/>
              </a:ext>
            </a:extLst>
          </p:cNvPr>
          <p:cNvSpPr/>
          <p:nvPr/>
        </p:nvSpPr>
        <p:spPr>
          <a:xfrm>
            <a:off x="7523224" y="2371242"/>
            <a:ext cx="3886200" cy="3581397"/>
          </a:xfrm>
          <a:prstGeom prst="flowChartConnector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E80B3559-CB46-66A3-F3DD-4AD5500C920D}"/>
              </a:ext>
            </a:extLst>
          </p:cNvPr>
          <p:cNvSpPr/>
          <p:nvPr/>
        </p:nvSpPr>
        <p:spPr>
          <a:xfrm>
            <a:off x="13597617" y="6567710"/>
            <a:ext cx="3886200" cy="3581397"/>
          </a:xfrm>
          <a:prstGeom prst="flowChartConnector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304B60C7-351E-646E-6FD2-2843CDBD021A}"/>
              </a:ext>
            </a:extLst>
          </p:cNvPr>
          <p:cNvSpPr/>
          <p:nvPr/>
        </p:nvSpPr>
        <p:spPr>
          <a:xfrm>
            <a:off x="7523224" y="6591297"/>
            <a:ext cx="3886200" cy="3581397"/>
          </a:xfrm>
          <a:prstGeom prst="flowChartConnector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1F71CB-F1AC-0EC2-E23F-7296B453B2B1}"/>
              </a:ext>
            </a:extLst>
          </p:cNvPr>
          <p:cNvSpPr txBox="1"/>
          <p:nvPr/>
        </p:nvSpPr>
        <p:spPr>
          <a:xfrm>
            <a:off x="2625918" y="2798050"/>
            <a:ext cx="19641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B44"/>
                </a:solidFill>
                <a:latin typeface="Aptos"/>
              </a:defRPr>
            </a:pPr>
            <a:r>
              <a:rPr lang="en-US" sz="2800" u="sng">
                <a:latin typeface="Times New Roman" panose="02020603050405020304" pitchFamily="18" charset="0"/>
                <a:cs typeface="Times New Roman" panose="02020603050405020304" pitchFamily="18" charset="0"/>
              </a:rPr>
              <a:t>Medicines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1CAA18B-721A-019F-6968-2C17C341161B}"/>
              </a:ext>
            </a:extLst>
          </p:cNvPr>
          <p:cNvSpPr txBox="1"/>
          <p:nvPr/>
        </p:nvSpPr>
        <p:spPr>
          <a:xfrm>
            <a:off x="2011260" y="3748078"/>
            <a:ext cx="279037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>
                <a:solidFill>
                  <a:srgbClr val="232A32"/>
                </a:solidFill>
                <a:latin typeface="Aptos"/>
              </a:defRPr>
            </a:pPr>
            <a:r>
              <a:rPr lang="en-US" sz="2800" b="1">
                <a:solidFill>
                  <a:srgbClr val="182B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Medicine master data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C7DFFC4-4B38-F0D0-09B5-39487F991552}"/>
              </a:ext>
            </a:extLst>
          </p:cNvPr>
          <p:cNvSpPr txBox="1"/>
          <p:nvPr/>
        </p:nvSpPr>
        <p:spPr>
          <a:xfrm>
            <a:off x="9067800" y="2803493"/>
            <a:ext cx="13233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B44"/>
                </a:solidFill>
                <a:latin typeface="Aptos"/>
              </a:defRPr>
            </a:pPr>
            <a:r>
              <a:rPr lang="en-US" sz="2800" b="1" u="sng">
                <a:solidFill>
                  <a:srgbClr val="182B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58BAD43-0A4E-ECC0-F58D-4D4629CDFEF7}"/>
              </a:ext>
            </a:extLst>
          </p:cNvPr>
          <p:cNvSpPr txBox="1"/>
          <p:nvPr/>
        </p:nvSpPr>
        <p:spPr>
          <a:xfrm>
            <a:off x="8203321" y="3748077"/>
            <a:ext cx="25880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>
                <a:solidFill>
                  <a:srgbClr val="232A32"/>
                </a:solidFill>
                <a:latin typeface="Aptos"/>
              </a:defRPr>
            </a:pPr>
            <a:r>
              <a:rPr lang="en-US" sz="2800" b="1">
                <a:solidFill>
                  <a:srgbClr val="182B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Daily sales records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1DDD635-6C1D-A2B2-3874-A4AFA0D1A4DB}"/>
              </a:ext>
            </a:extLst>
          </p:cNvPr>
          <p:cNvSpPr txBox="1"/>
          <p:nvPr/>
        </p:nvSpPr>
        <p:spPr>
          <a:xfrm rot="10800000" flipV="1">
            <a:off x="14739769" y="2798050"/>
            <a:ext cx="21700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B44"/>
                </a:solidFill>
                <a:latin typeface="Aptos"/>
              </a:defRPr>
            </a:pPr>
            <a:r>
              <a:rPr lang="en-US" sz="2800" b="1" u="sng">
                <a:solidFill>
                  <a:srgbClr val="182B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Inventory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D5BDF4-0B83-AFDE-F7CB-E784E0430509}"/>
              </a:ext>
            </a:extLst>
          </p:cNvPr>
          <p:cNvSpPr txBox="1"/>
          <p:nvPr/>
        </p:nvSpPr>
        <p:spPr>
          <a:xfrm>
            <a:off x="14550901" y="3900330"/>
            <a:ext cx="27539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2"/>
                </a:solidFill>
                <a:latin typeface="Aptos"/>
              </a:defRPr>
            </a:pPr>
            <a:r>
              <a:rPr lang="en-US" sz="2800" b="1">
                <a:solidFill>
                  <a:srgbClr val="182B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stock</a:t>
            </a:r>
          </a:p>
        </p:txBody>
      </p:sp>
      <p:sp>
        <p:nvSpPr>
          <p:cNvPr id="49" name="Freeform 12">
            <a:extLst>
              <a:ext uri="{FF2B5EF4-FFF2-40B4-BE49-F238E27FC236}">
                <a16:creationId xmlns:a16="http://schemas.microsoft.com/office/drawing/2014/main" id="{12006F1B-7874-52DD-3932-CB128CC89143}"/>
              </a:ext>
            </a:extLst>
          </p:cNvPr>
          <p:cNvSpPr/>
          <p:nvPr/>
        </p:nvSpPr>
        <p:spPr>
          <a:xfrm rot="5841466">
            <a:off x="-996559" y="6848140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0" y="0"/>
                </a:moveTo>
                <a:lnTo>
                  <a:pt x="3059915" y="0"/>
                </a:lnTo>
                <a:lnTo>
                  <a:pt x="305991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634D7D94-81DA-446A-3833-E4925EE617A5}"/>
              </a:ext>
            </a:extLst>
          </p:cNvPr>
          <p:cNvSpPr/>
          <p:nvPr/>
        </p:nvSpPr>
        <p:spPr>
          <a:xfrm>
            <a:off x="1463345" y="6567711"/>
            <a:ext cx="3886200" cy="3581397"/>
          </a:xfrm>
          <a:prstGeom prst="flowChartConnector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4F3EFBE-705B-5344-8810-AE0BFEEAB467}"/>
              </a:ext>
            </a:extLst>
          </p:cNvPr>
          <p:cNvSpPr txBox="1"/>
          <p:nvPr/>
        </p:nvSpPr>
        <p:spPr>
          <a:xfrm>
            <a:off x="2647447" y="7124700"/>
            <a:ext cx="17565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2B44"/>
                </a:solidFill>
                <a:latin typeface="Aptos"/>
              </a:defRPr>
            </a:pPr>
            <a:r>
              <a:rPr lang="en-US" sz="2800" b="1" u="sng">
                <a:solidFill>
                  <a:srgbClr val="182B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Forecasts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CCC7A48-EF70-CF15-638A-3F759B0379E5}"/>
              </a:ext>
            </a:extLst>
          </p:cNvPr>
          <p:cNvSpPr txBox="1"/>
          <p:nvPr/>
        </p:nvSpPr>
        <p:spPr>
          <a:xfrm>
            <a:off x="1986692" y="8140413"/>
            <a:ext cx="29664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>
                <a:solidFill>
                  <a:srgbClr val="232A32"/>
                </a:solidFill>
                <a:latin typeface="Aptos"/>
              </a:defRPr>
            </a:pPr>
            <a:r>
              <a:rPr lang="en-US" sz="2800" b="1">
                <a:solidFill>
                  <a:srgbClr val="182B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predictions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47759E3-79A8-C5E7-A9D9-8FBB459E798C}"/>
              </a:ext>
            </a:extLst>
          </p:cNvPr>
          <p:cNvSpPr txBox="1"/>
          <p:nvPr/>
        </p:nvSpPr>
        <p:spPr>
          <a:xfrm>
            <a:off x="7850594" y="6909256"/>
            <a:ext cx="329350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82B44"/>
                </a:solidFill>
                <a:latin typeface="Aptos"/>
              </a:defRPr>
            </a:pPr>
            <a:r>
              <a:rPr lang="en-US" sz="2800" b="1" u="sng">
                <a:solidFill>
                  <a:srgbClr val="182B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Inventory</a:t>
            </a:r>
          </a:p>
          <a:p>
            <a:pPr algn="ctr">
              <a:defRPr sz="1500" b="1">
                <a:solidFill>
                  <a:srgbClr val="182B44"/>
                </a:solidFill>
                <a:latin typeface="Aptos"/>
              </a:defRPr>
            </a:pPr>
            <a:r>
              <a:rPr lang="en-US" sz="2800" b="1" u="sng">
                <a:solidFill>
                  <a:srgbClr val="182B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E0A6A48-49EB-21D1-3C67-9D513538B4E7}"/>
              </a:ext>
            </a:extLst>
          </p:cNvPr>
          <p:cNvSpPr txBox="1"/>
          <p:nvPr/>
        </p:nvSpPr>
        <p:spPr>
          <a:xfrm>
            <a:off x="7716339" y="8181322"/>
            <a:ext cx="35612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>
                <a:solidFill>
                  <a:srgbClr val="232A32"/>
                </a:solidFill>
                <a:latin typeface="Aptos"/>
              </a:defRPr>
            </a:pPr>
            <a:r>
              <a:rPr lang="en-US" sz="2800" b="1">
                <a:solidFill>
                  <a:srgbClr val="182B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Buy / Sufficient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7CDCCA6-D66A-4093-CA02-2E8EB97B858F}"/>
              </a:ext>
            </a:extLst>
          </p:cNvPr>
          <p:cNvSpPr txBox="1"/>
          <p:nvPr/>
        </p:nvSpPr>
        <p:spPr>
          <a:xfrm>
            <a:off x="14572271" y="7011784"/>
            <a:ext cx="233754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82B44"/>
                </a:solidFill>
                <a:latin typeface="Aptos"/>
              </a:defRPr>
            </a:pPr>
            <a:r>
              <a:rPr lang="en-US" sz="2800" b="1" u="sng">
                <a:solidFill>
                  <a:srgbClr val="182B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Pharmacy</a:t>
            </a:r>
          </a:p>
          <a:p>
            <a:pPr>
              <a:defRPr sz="1500" b="1">
                <a:solidFill>
                  <a:srgbClr val="182B44"/>
                </a:solidFill>
                <a:latin typeface="Aptos"/>
              </a:defRPr>
            </a:pPr>
            <a:r>
              <a:rPr lang="en-US" sz="2800" b="1" u="sng">
                <a:solidFill>
                  <a:srgbClr val="182B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closed dates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6B237C1-B19B-D023-052F-F24FB53B5390}"/>
              </a:ext>
            </a:extLst>
          </p:cNvPr>
          <p:cNvSpPr txBox="1"/>
          <p:nvPr/>
        </p:nvSpPr>
        <p:spPr>
          <a:xfrm rot="10800000" flipV="1">
            <a:off x="13969927" y="8077263"/>
            <a:ext cx="317507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>
                <a:solidFill>
                  <a:srgbClr val="232A32"/>
                </a:solidFill>
                <a:latin typeface="Aptos"/>
              </a:defRPr>
            </a:pPr>
            <a:r>
              <a:rPr lang="en-US" sz="2800" b="1">
                <a:solidFill>
                  <a:srgbClr val="182B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Closed business dates</a:t>
            </a:r>
          </a:p>
        </p:txBody>
      </p:sp>
    </p:spTree>
    <p:extLst>
      <p:ext uri="{BB962C8B-B14F-4D97-AF65-F5344CB8AC3E}">
        <p14:creationId xmlns:p14="http://schemas.microsoft.com/office/powerpoint/2010/main" val="26733832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E6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9EE275-E727-FF7B-BF03-710B5FC29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ACABE9-65EA-95FD-7A0C-2B3A54B0BD83}"/>
              </a:ext>
            </a:extLst>
          </p:cNvPr>
          <p:cNvSpPr txBox="1"/>
          <p:nvPr/>
        </p:nvSpPr>
        <p:spPr>
          <a:xfrm>
            <a:off x="3810000" y="419100"/>
            <a:ext cx="11049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82B44"/>
                </a:solidFill>
                <a:latin typeface="Aptos Display"/>
              </a:defRPr>
            </a:pPr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DATABASE LOGIC BEHIND FORECASTING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909A2A-089C-E520-2C52-D8AFC80F25E9}"/>
              </a:ext>
            </a:extLst>
          </p:cNvPr>
          <p:cNvSpPr txBox="1"/>
          <p:nvPr/>
        </p:nvSpPr>
        <p:spPr>
          <a:xfrm>
            <a:off x="2705100" y="1638300"/>
            <a:ext cx="13258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preserves the difference between an operating day and a closure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E1771C6-6510-D26C-6867-060064924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26986"/>
            <a:ext cx="18288000" cy="6096000"/>
          </a:xfrm>
          <a:prstGeom prst="rect">
            <a:avLst/>
          </a:prstGeom>
        </p:spPr>
      </p:pic>
      <p:sp>
        <p:nvSpPr>
          <p:cNvPr id="11" name="Rounded Rectangle 14">
            <a:extLst>
              <a:ext uri="{FF2B5EF4-FFF2-40B4-BE49-F238E27FC236}">
                <a16:creationId xmlns:a16="http://schemas.microsoft.com/office/drawing/2014/main" id="{F41035AF-3A42-A5D0-0C5D-826C5DAA7947}"/>
              </a:ext>
            </a:extLst>
          </p:cNvPr>
          <p:cNvSpPr/>
          <p:nvPr/>
        </p:nvSpPr>
        <p:spPr>
          <a:xfrm>
            <a:off x="838200" y="6743700"/>
            <a:ext cx="7162800" cy="25908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81EA66-50D3-AFA6-53B1-13A614A3CC8E}"/>
              </a:ext>
            </a:extLst>
          </p:cNvPr>
          <p:cNvSpPr txBox="1"/>
          <p:nvPr/>
        </p:nvSpPr>
        <p:spPr>
          <a:xfrm>
            <a:off x="2438400" y="6930598"/>
            <a:ext cx="4343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4"/>
                </a:solidFill>
                <a:latin typeface="Aptos"/>
              </a:defRPr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CLOSED DATE</a:t>
            </a:r>
          </a:p>
        </p:txBody>
      </p:sp>
      <p:sp>
        <p:nvSpPr>
          <p:cNvPr id="18" name="Rounded Rectangle 14">
            <a:extLst>
              <a:ext uri="{FF2B5EF4-FFF2-40B4-BE49-F238E27FC236}">
                <a16:creationId xmlns:a16="http://schemas.microsoft.com/office/drawing/2014/main" id="{493C5462-7099-4EE6-D6A0-046790D969E7}"/>
              </a:ext>
            </a:extLst>
          </p:cNvPr>
          <p:cNvSpPr/>
          <p:nvPr/>
        </p:nvSpPr>
        <p:spPr>
          <a:xfrm>
            <a:off x="10058400" y="6743700"/>
            <a:ext cx="7162800" cy="25908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9E5BB5-62D8-A1B7-1FED-F0EBE35EBB55}"/>
              </a:ext>
            </a:extLst>
          </p:cNvPr>
          <p:cNvSpPr txBox="1"/>
          <p:nvPr/>
        </p:nvSpPr>
        <p:spPr>
          <a:xfrm>
            <a:off x="1295400" y="7523041"/>
            <a:ext cx="62484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No sales row is created. The date is stored in </a:t>
            </a:r>
            <a:r>
              <a:rPr lang="en-US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pharmacy_closed_dates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and excluded from ML input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A784809-1006-CB87-034E-C09828EE6BC9}"/>
              </a:ext>
            </a:extLst>
          </p:cNvPr>
          <p:cNvSpPr txBox="1"/>
          <p:nvPr/>
        </p:nvSpPr>
        <p:spPr>
          <a:xfrm>
            <a:off x="11448047" y="6938266"/>
            <a:ext cx="4912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82B44"/>
                </a:solidFill>
                <a:latin typeface="Aptos"/>
              </a:defRPr>
            </a:pPr>
            <a:r>
              <a:rPr lang="en-US" sz="3200" b="1">
                <a:solidFill>
                  <a:srgbClr val="182B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FORECAST RUN DATE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A8B53A8-5D61-06F4-1F5F-0AA4FF93352B}"/>
              </a:ext>
            </a:extLst>
          </p:cNvPr>
          <p:cNvSpPr txBox="1"/>
          <p:nvPr/>
        </p:nvSpPr>
        <p:spPr>
          <a:xfrm>
            <a:off x="10507580" y="7523041"/>
            <a:ext cx="67136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Each saved forecast records when it was generated, so different runs can be compared or retained</a:t>
            </a:r>
          </a:p>
        </p:txBody>
      </p:sp>
    </p:spTree>
    <p:extLst>
      <p:ext uri="{BB962C8B-B14F-4D97-AF65-F5344CB8AC3E}">
        <p14:creationId xmlns:p14="http://schemas.microsoft.com/office/powerpoint/2010/main" val="125506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E6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D360A0-AC7B-9A7A-67E4-9A18E35E7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9C1B683-E47C-4425-B4E6-D771A0C1C738}"/>
              </a:ext>
            </a:extLst>
          </p:cNvPr>
          <p:cNvGrpSpPr/>
          <p:nvPr/>
        </p:nvGrpSpPr>
        <p:grpSpPr>
          <a:xfrm>
            <a:off x="0" y="0"/>
            <a:ext cx="9369155" cy="10305047"/>
            <a:chOff x="0" y="0"/>
            <a:chExt cx="2503619" cy="3010371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87009DF-BC8F-2703-90CF-63634B1B3B86}"/>
                </a:ext>
              </a:extLst>
            </p:cNvPr>
            <p:cNvSpPr/>
            <p:nvPr/>
          </p:nvSpPr>
          <p:spPr>
            <a:xfrm>
              <a:off x="0" y="0"/>
              <a:ext cx="2503619" cy="3010371"/>
            </a:xfrm>
            <a:custGeom>
              <a:avLst/>
              <a:gdLst/>
              <a:ahLst/>
              <a:cxnLst/>
              <a:rect l="l" t="t" r="r" b="b"/>
              <a:pathLst>
                <a:path w="2503619" h="3010371">
                  <a:moveTo>
                    <a:pt x="0" y="0"/>
                  </a:moveTo>
                  <a:lnTo>
                    <a:pt x="2503619" y="0"/>
                  </a:lnTo>
                  <a:lnTo>
                    <a:pt x="2503619" y="3010371"/>
                  </a:lnTo>
                  <a:lnTo>
                    <a:pt x="0" y="3010371"/>
                  </a:lnTo>
                  <a:close/>
                </a:path>
              </a:pathLst>
            </a:custGeom>
            <a:solidFill>
              <a:srgbClr val="88A20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77A5CC5-E04E-941D-2C22-58FB1B453289}"/>
                </a:ext>
              </a:extLst>
            </p:cNvPr>
            <p:cNvSpPr txBox="1"/>
            <p:nvPr/>
          </p:nvSpPr>
          <p:spPr>
            <a:xfrm>
              <a:off x="0" y="-38100"/>
              <a:ext cx="2503619" cy="30484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A4F6148F-6C18-294C-2272-10AB17F9626F}"/>
              </a:ext>
            </a:extLst>
          </p:cNvPr>
          <p:cNvSpPr txBox="1"/>
          <p:nvPr/>
        </p:nvSpPr>
        <p:spPr>
          <a:xfrm>
            <a:off x="225155" y="647700"/>
            <a:ext cx="9144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82B44"/>
                </a:solidFill>
                <a:latin typeface="Aptos Display"/>
              </a:defRPr>
            </a:pPr>
            <a:r>
              <a:rPr lang="en-US" sz="3500">
                <a:latin typeface="Times New Roman" panose="02020603050405020304" pitchFamily="18" charset="0"/>
                <a:cs typeface="Times New Roman" panose="02020603050405020304" pitchFamily="18" charset="0"/>
              </a:rPr>
              <a:t>FASTAPI BACKEND: THE SYSTEM'S COORDINATOR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A805F8-AB89-0695-E924-D21FB28C9C96}"/>
              </a:ext>
            </a:extLst>
          </p:cNvPr>
          <p:cNvSpPr txBox="1"/>
          <p:nvPr/>
        </p:nvSpPr>
        <p:spPr>
          <a:xfrm>
            <a:off x="848792" y="3314700"/>
            <a:ext cx="7848600" cy="418576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1400" b="1">
                <a:solidFill>
                  <a:srgbClr val="182B44"/>
                </a:solidFill>
                <a:latin typeface="Aptos"/>
              </a:defRPr>
            </a:pPr>
            <a:r>
              <a:rPr lang="en-US" sz="28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 Sales -  Validate + store daily sales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1400" b="1">
                <a:solidFill>
                  <a:srgbClr val="182B44"/>
                </a:solidFill>
                <a:latin typeface="Aptos"/>
              </a:defRPr>
            </a:pPr>
            <a:r>
              <a:rPr lang="en-US" sz="28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 Closed - Record closure; block sales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1400" b="1">
                <a:solidFill>
                  <a:srgbClr val="182B44"/>
                </a:solidFill>
                <a:latin typeface="Aptos"/>
              </a:defRPr>
            </a:pPr>
            <a:r>
              <a:rPr lang="en-US" sz="28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 Forecast - Build features + predict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1400" b="1">
                <a:solidFill>
                  <a:srgbClr val="182B44"/>
                </a:solidFill>
                <a:latin typeface="Aptos"/>
              </a:defRPr>
            </a:pPr>
            <a:r>
              <a:rPr lang="en-US" sz="28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 Results - Return forecasts + recommendations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  <a:defRPr sz="1400" b="1">
                <a:solidFill>
                  <a:srgbClr val="182B44"/>
                </a:solidFill>
                <a:latin typeface="Aptos"/>
              </a:defRPr>
            </a:pPr>
            <a:r>
              <a:rPr lang="en-US" sz="28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 Stock - Persist inventory changes</a:t>
            </a:r>
            <a:endParaRPr lang="en-US"/>
          </a:p>
          <a:p>
            <a:pPr>
              <a:defRPr sz="1400" b="1">
                <a:solidFill>
                  <a:srgbClr val="182B44"/>
                </a:solidFill>
                <a:latin typeface="Aptos"/>
              </a:defRPr>
            </a:pPr>
            <a:endParaRPr lang="en-US" sz="14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BC4E80D-429E-7AC7-F945-4DAA0E3D8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800" y="3212432"/>
            <a:ext cx="13868400" cy="418576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6D4AF1D-E210-242E-67C6-1ABEFAAF9860}"/>
              </a:ext>
            </a:extLst>
          </p:cNvPr>
          <p:cNvSpPr txBox="1"/>
          <p:nvPr/>
        </p:nvSpPr>
        <p:spPr>
          <a:xfrm>
            <a:off x="11052445" y="641684"/>
            <a:ext cx="701040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82B44"/>
                </a:solidFill>
                <a:latin typeface="Aptos Display"/>
              </a:defRPr>
            </a:pPr>
            <a:r>
              <a:rPr lang="en-US" sz="3500" b="1">
                <a:solidFill>
                  <a:srgbClr val="182B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DDB001-6E5E-D20B-8A13-7798F9306196}"/>
              </a:ext>
            </a:extLst>
          </p:cNvPr>
          <p:cNvSpPr txBox="1"/>
          <p:nvPr/>
        </p:nvSpPr>
        <p:spPr>
          <a:xfrm>
            <a:off x="10134600" y="2267269"/>
            <a:ext cx="7696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Four layers work together around PostgreSQL</a:t>
            </a:r>
          </a:p>
        </p:txBody>
      </p:sp>
    </p:spTree>
    <p:extLst>
      <p:ext uri="{BB962C8B-B14F-4D97-AF65-F5344CB8AC3E}">
        <p14:creationId xmlns:p14="http://schemas.microsoft.com/office/powerpoint/2010/main" val="42307876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E6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3BEDCF-11C4-5872-FD66-60C57DE9C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C87DB42-3F66-BD33-2DA8-F5902EA69A97}"/>
              </a:ext>
            </a:extLst>
          </p:cNvPr>
          <p:cNvGrpSpPr/>
          <p:nvPr/>
        </p:nvGrpSpPr>
        <p:grpSpPr>
          <a:xfrm>
            <a:off x="8930877" y="6016"/>
            <a:ext cx="9369155" cy="10305047"/>
            <a:chOff x="0" y="0"/>
            <a:chExt cx="2503619" cy="3010371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05B16D3-1344-98B9-82F1-B8E06FAC29CF}"/>
                </a:ext>
              </a:extLst>
            </p:cNvPr>
            <p:cNvSpPr/>
            <p:nvPr/>
          </p:nvSpPr>
          <p:spPr>
            <a:xfrm>
              <a:off x="0" y="0"/>
              <a:ext cx="2503619" cy="3010371"/>
            </a:xfrm>
            <a:custGeom>
              <a:avLst/>
              <a:gdLst/>
              <a:ahLst/>
              <a:cxnLst/>
              <a:rect l="l" t="t" r="r" b="b"/>
              <a:pathLst>
                <a:path w="2503619" h="3010371">
                  <a:moveTo>
                    <a:pt x="0" y="0"/>
                  </a:moveTo>
                  <a:lnTo>
                    <a:pt x="2503619" y="0"/>
                  </a:lnTo>
                  <a:lnTo>
                    <a:pt x="2503619" y="3010371"/>
                  </a:lnTo>
                  <a:lnTo>
                    <a:pt x="0" y="3010371"/>
                  </a:lnTo>
                  <a:close/>
                </a:path>
              </a:pathLst>
            </a:custGeom>
            <a:solidFill>
              <a:srgbClr val="88A20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92A89A1-9DDE-5008-21DB-BDA0D4DA27A0}"/>
                </a:ext>
              </a:extLst>
            </p:cNvPr>
            <p:cNvSpPr txBox="1"/>
            <p:nvPr/>
          </p:nvSpPr>
          <p:spPr>
            <a:xfrm>
              <a:off x="0" y="-38100"/>
              <a:ext cx="2503619" cy="30484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E6BDCDA8-2DE6-4FF5-FE26-2889B3F8AF24}"/>
              </a:ext>
            </a:extLst>
          </p:cNvPr>
          <p:cNvSpPr txBox="1"/>
          <p:nvPr/>
        </p:nvSpPr>
        <p:spPr>
          <a:xfrm>
            <a:off x="685800" y="342900"/>
            <a:ext cx="7772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82B44"/>
                </a:solidFill>
                <a:latin typeface="Aptos Display"/>
              </a:defRPr>
            </a:pP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DEMO SCENARIO: CLOSED-DAY FORECASTING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F209F5-E5B0-A1C9-38A7-2B3D3B4E4024}"/>
              </a:ext>
            </a:extLst>
          </p:cNvPr>
          <p:cNvSpPr txBox="1"/>
          <p:nvPr/>
        </p:nvSpPr>
        <p:spPr>
          <a:xfrm>
            <a:off x="449461" y="1866900"/>
            <a:ext cx="824507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must behave correctly when the pharmacy is not operating</a:t>
            </a:r>
          </a:p>
        </p:txBody>
      </p:sp>
      <p:sp>
        <p:nvSpPr>
          <p:cNvPr id="9" name="Rounded Rectangle 12">
            <a:extLst>
              <a:ext uri="{FF2B5EF4-FFF2-40B4-BE49-F238E27FC236}">
                <a16:creationId xmlns:a16="http://schemas.microsoft.com/office/drawing/2014/main" id="{3B57BCD9-4D96-050E-311C-A645627630EE}"/>
              </a:ext>
            </a:extLst>
          </p:cNvPr>
          <p:cNvSpPr/>
          <p:nvPr/>
        </p:nvSpPr>
        <p:spPr>
          <a:xfrm>
            <a:off x="995900" y="3144678"/>
            <a:ext cx="7614699" cy="275864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1" name="Rounded Rectangle 12">
            <a:extLst>
              <a:ext uri="{FF2B5EF4-FFF2-40B4-BE49-F238E27FC236}">
                <a16:creationId xmlns:a16="http://schemas.microsoft.com/office/drawing/2014/main" id="{9C724AF3-6051-EA48-FBD5-D182682A1938}"/>
              </a:ext>
            </a:extLst>
          </p:cNvPr>
          <p:cNvSpPr/>
          <p:nvPr/>
        </p:nvSpPr>
        <p:spPr>
          <a:xfrm>
            <a:off x="995901" y="6591300"/>
            <a:ext cx="7614698" cy="275864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59097E-1615-43AF-0568-67C7CCAE5588}"/>
              </a:ext>
            </a:extLst>
          </p:cNvPr>
          <p:cNvSpPr/>
          <p:nvPr/>
        </p:nvSpPr>
        <p:spPr>
          <a:xfrm>
            <a:off x="934975" y="3131819"/>
            <a:ext cx="106645" cy="2758641"/>
          </a:xfrm>
          <a:prstGeom prst="rect">
            <a:avLst/>
          </a:prstGeom>
          <a:solidFill>
            <a:srgbClr val="31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7D2598-F05E-94E8-8880-516380717290}"/>
              </a:ext>
            </a:extLst>
          </p:cNvPr>
          <p:cNvSpPr/>
          <p:nvPr/>
        </p:nvSpPr>
        <p:spPr>
          <a:xfrm>
            <a:off x="934975" y="6578441"/>
            <a:ext cx="106644" cy="2771500"/>
          </a:xfrm>
          <a:prstGeom prst="rect">
            <a:avLst/>
          </a:prstGeom>
          <a:solidFill>
            <a:srgbClr val="DC8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24F95C-6A8D-987D-8EAA-A51B23910823}"/>
              </a:ext>
            </a:extLst>
          </p:cNvPr>
          <p:cNvSpPr txBox="1"/>
          <p:nvPr/>
        </p:nvSpPr>
        <p:spPr>
          <a:xfrm>
            <a:off x="2649836" y="3166647"/>
            <a:ext cx="4419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2B44"/>
                </a:solidFill>
                <a:latin typeface="Aptos"/>
              </a:defRPr>
            </a:pPr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EXPECTED RESULT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EFE60F-0CB4-09FE-EDD9-326F1CB473B8}"/>
              </a:ext>
            </a:extLst>
          </p:cNvPr>
          <p:cNvSpPr txBox="1"/>
          <p:nvPr/>
        </p:nvSpPr>
        <p:spPr>
          <a:xfrm>
            <a:off x="1361898" y="3720635"/>
            <a:ext cx="7122699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A32"/>
                </a:solidFill>
                <a:latin typeface="Aptos"/>
              </a:defRPr>
            </a:pPr>
            <a:r>
              <a:rPr lang="en-US" sz="2700">
                <a:latin typeface="Times New Roman" panose="02020603050405020304" pitchFamily="18" charset="0"/>
                <a:cs typeface="Times New Roman" panose="02020603050405020304" pitchFamily="18" charset="0"/>
              </a:rPr>
              <a:t>Forecast window:</a:t>
            </a:r>
            <a:br>
              <a:rPr lang="en-US" sz="27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700">
                <a:latin typeface="Times New Roman" panose="02020603050405020304" pitchFamily="18" charset="0"/>
                <a:cs typeface="Times New Roman" panose="02020603050405020304" pitchFamily="18" charset="0"/>
              </a:rPr>
              <a:t>16 Sep → 22 Sep 2026</a:t>
            </a:r>
          </a:p>
          <a:p>
            <a:pPr>
              <a:defRPr sz="1600">
                <a:solidFill>
                  <a:srgbClr val="232A32"/>
                </a:solidFill>
                <a:latin typeface="Aptos"/>
              </a:defRPr>
            </a:pPr>
            <a:br>
              <a:rPr lang="en-US" sz="27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700">
                <a:latin typeface="Times New Roman" panose="02020603050405020304" pitchFamily="18" charset="0"/>
                <a:cs typeface="Times New Roman" panose="02020603050405020304" pitchFamily="18" charset="0"/>
              </a:rPr>
              <a:t>The closed date itself is not forecast as a business day</a:t>
            </a:r>
            <a:r>
              <a:rPr lang="en-US" sz="2700"/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26E8FC-6657-729A-73CA-531C54F745A7}"/>
              </a:ext>
            </a:extLst>
          </p:cNvPr>
          <p:cNvSpPr txBox="1"/>
          <p:nvPr/>
        </p:nvSpPr>
        <p:spPr>
          <a:xfrm>
            <a:off x="2971800" y="6819900"/>
            <a:ext cx="451497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82B44"/>
                </a:solidFill>
                <a:latin typeface="Aptos"/>
              </a:defRPr>
            </a:pPr>
            <a:r>
              <a:rPr lang="en-US" sz="3000" b="1">
                <a:solidFill>
                  <a:srgbClr val="182B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57B56F-9AB2-7006-8701-4AD00B40115C}"/>
              </a:ext>
            </a:extLst>
          </p:cNvPr>
          <p:cNvSpPr txBox="1"/>
          <p:nvPr/>
        </p:nvSpPr>
        <p:spPr>
          <a:xfrm>
            <a:off x="1365208" y="7417534"/>
            <a:ext cx="698885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A32"/>
                </a:solidFill>
                <a:latin typeface="Aptos"/>
              </a:defRPr>
            </a:pPr>
            <a:r>
              <a:rPr lang="en-US" sz="2700">
                <a:solidFill>
                  <a:srgbClr val="232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sales row for the closed date.</a:t>
            </a:r>
            <a:br>
              <a:rPr lang="en-US" sz="2700">
                <a:solidFill>
                  <a:srgbClr val="232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700">
                <a:solidFill>
                  <a:srgbClr val="232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700">
                <a:solidFill>
                  <a:srgbClr val="232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model uses the last valid historical observations</a:t>
            </a:r>
            <a:r>
              <a:rPr lang="en-US" sz="1600"/>
              <a:t>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EA5338-C20C-86F6-E212-5328E5F0BDF7}"/>
              </a:ext>
            </a:extLst>
          </p:cNvPr>
          <p:cNvSpPr txBox="1"/>
          <p:nvPr/>
        </p:nvSpPr>
        <p:spPr>
          <a:xfrm>
            <a:off x="9599682" y="484787"/>
            <a:ext cx="91512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82B44"/>
                </a:solidFill>
                <a:latin typeface="Aptos Display"/>
              </a:defRPr>
            </a:pPr>
            <a:r>
              <a:rPr lang="en-US" sz="3600" b="1">
                <a:solidFill>
                  <a:srgbClr val="182B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VERIFICATION: WHAT WE TESTED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BAFD18-55DE-E357-D4C8-EED11A8B57EA}"/>
              </a:ext>
            </a:extLst>
          </p:cNvPr>
          <p:cNvSpPr txBox="1"/>
          <p:nvPr/>
        </p:nvSpPr>
        <p:spPr>
          <a:xfrm>
            <a:off x="9022073" y="1820733"/>
            <a:ext cx="93834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The final demonstration should show evidence, not only claims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ACB9A58-E7DC-88CF-8424-AC74D155B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9464" y="3076853"/>
            <a:ext cx="10744200" cy="5724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2315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E6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B99E8B-81F0-1148-C8AF-861EAF941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3B8638-44BF-58CA-538A-B48C2E293085}"/>
              </a:ext>
            </a:extLst>
          </p:cNvPr>
          <p:cNvSpPr txBox="1"/>
          <p:nvPr/>
        </p:nvSpPr>
        <p:spPr>
          <a:xfrm>
            <a:off x="5486400" y="647700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82B44"/>
                </a:solidFill>
                <a:latin typeface="Aptos Display"/>
              </a:defRPr>
            </a:pPr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WHAT THE SYSTEM ACHIEVES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902723-4EAA-7FC1-3CDB-3F65DE597CE9}"/>
              </a:ext>
            </a:extLst>
          </p:cNvPr>
          <p:cNvSpPr txBox="1"/>
          <p:nvPr/>
        </p:nvSpPr>
        <p:spPr>
          <a:xfrm>
            <a:off x="990600" y="2019300"/>
            <a:ext cx="11353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Decision support today, with clear paths for improvement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35CA4D4-91B2-C260-D468-8BA050D97355}"/>
              </a:ext>
            </a:extLst>
          </p:cNvPr>
          <p:cNvSpPr/>
          <p:nvPr/>
        </p:nvSpPr>
        <p:spPr>
          <a:xfrm>
            <a:off x="457200" y="3526971"/>
            <a:ext cx="5733144" cy="6096000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853E228A-2BDA-D243-7086-EF70171CB3C9}"/>
              </a:ext>
            </a:extLst>
          </p:cNvPr>
          <p:cNvSpPr/>
          <p:nvPr/>
        </p:nvSpPr>
        <p:spPr>
          <a:xfrm>
            <a:off x="12380686" y="3463471"/>
            <a:ext cx="5733144" cy="6096000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0" name="Rounded Rectangle 5">
            <a:extLst>
              <a:ext uri="{FF2B5EF4-FFF2-40B4-BE49-F238E27FC236}">
                <a16:creationId xmlns:a16="http://schemas.microsoft.com/office/drawing/2014/main" id="{910B0383-6A54-B3A3-5B7A-9528E61398BC}"/>
              </a:ext>
            </a:extLst>
          </p:cNvPr>
          <p:cNvSpPr/>
          <p:nvPr/>
        </p:nvSpPr>
        <p:spPr>
          <a:xfrm>
            <a:off x="6360885" y="3476171"/>
            <a:ext cx="5733144" cy="6096000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rgbClr val="DE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7507E6-7B03-78ED-441E-0247DF58EA06}"/>
              </a:ext>
            </a:extLst>
          </p:cNvPr>
          <p:cNvSpPr txBox="1"/>
          <p:nvPr/>
        </p:nvSpPr>
        <p:spPr>
          <a:xfrm>
            <a:off x="2362200" y="4000500"/>
            <a:ext cx="1600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2B44"/>
                </a:solidFill>
                <a:latin typeface="Aptos"/>
              </a:defRPr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41D0F8-CCAA-68F2-3BA7-07D34D65FD0A}"/>
              </a:ext>
            </a:extLst>
          </p:cNvPr>
          <p:cNvSpPr txBox="1"/>
          <p:nvPr/>
        </p:nvSpPr>
        <p:spPr>
          <a:xfrm>
            <a:off x="7703457" y="4000500"/>
            <a:ext cx="3048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2B44"/>
                </a:solidFill>
                <a:latin typeface="Aptos"/>
              </a:defRPr>
            </a:pPr>
            <a:r>
              <a:rPr lang="en-US" sz="3200" b="1">
                <a:solidFill>
                  <a:srgbClr val="182B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E8B0F7-EA3B-04D0-9C89-C53B2D5CEDEF}"/>
              </a:ext>
            </a:extLst>
          </p:cNvPr>
          <p:cNvSpPr txBox="1"/>
          <p:nvPr/>
        </p:nvSpPr>
        <p:spPr>
          <a:xfrm>
            <a:off x="14020800" y="4000500"/>
            <a:ext cx="3505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2B44"/>
                </a:solidFill>
                <a:latin typeface="Aptos"/>
              </a:defRPr>
            </a:pPr>
            <a:r>
              <a:rPr lang="en-US" sz="3200" b="1">
                <a:solidFill>
                  <a:srgbClr val="182B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8765F9-3C4E-729A-22ED-321DE6B41BA0}"/>
              </a:ext>
            </a:extLst>
          </p:cNvPr>
          <p:cNvSpPr txBox="1"/>
          <p:nvPr/>
        </p:nvSpPr>
        <p:spPr>
          <a:xfrm>
            <a:off x="979714" y="4762500"/>
            <a:ext cx="4648200" cy="3892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400">
                <a:solidFill>
                  <a:srgbClr val="232A32"/>
                </a:solidFill>
                <a:latin typeface="Aptos"/>
              </a:defRPr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• Forecast demand for 7 days</a:t>
            </a:r>
            <a:b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• Reduce stockout risk</a:t>
            </a:r>
            <a:b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• Reduce unnecessary over-ordering</a:t>
            </a:r>
            <a:b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• Give the owner a clear BUY / SUFFICIENT signal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BE5CF3-F6B8-6467-B7F8-24163FC6D546}"/>
              </a:ext>
            </a:extLst>
          </p:cNvPr>
          <p:cNvSpPr txBox="1"/>
          <p:nvPr/>
        </p:nvSpPr>
        <p:spPr>
          <a:xfrm>
            <a:off x="6941457" y="4762500"/>
            <a:ext cx="4572000" cy="3892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400">
                <a:solidFill>
                  <a:srgbClr val="232A32"/>
                </a:solidFill>
                <a:latin typeface="Aptos"/>
              </a:defRPr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• Forecast quality depends on historical data</a:t>
            </a:r>
            <a:b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• Model size is relatively large</a:t>
            </a:r>
            <a:b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• Real-world deployment and longer-term validation are still future work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A83031-B4CD-105E-26C4-76B89D1F6041}"/>
              </a:ext>
            </a:extLst>
          </p:cNvPr>
          <p:cNvSpPr txBox="1"/>
          <p:nvPr/>
        </p:nvSpPr>
        <p:spPr>
          <a:xfrm>
            <a:off x="12954000" y="4767943"/>
            <a:ext cx="5159830" cy="3892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400">
                <a:solidFill>
                  <a:srgbClr val="232A32"/>
                </a:solidFill>
                <a:latin typeface="Aptos"/>
              </a:defRPr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• Deployment for real pharmacy use</a:t>
            </a:r>
            <a:b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• More historical data</a:t>
            </a:r>
            <a:b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• Holiday / seasonal features</a:t>
            </a:r>
            <a:b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• Notifications and stock alerts</a:t>
            </a:r>
            <a:b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• Further model experimentation</a:t>
            </a:r>
          </a:p>
        </p:txBody>
      </p:sp>
    </p:spTree>
    <p:extLst>
      <p:ext uri="{BB962C8B-B14F-4D97-AF65-F5344CB8AC3E}">
        <p14:creationId xmlns:p14="http://schemas.microsoft.com/office/powerpoint/2010/main" val="14092484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E6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902404" y="-790106"/>
            <a:ext cx="6385596" cy="7384186"/>
            <a:chOff x="0" y="0"/>
            <a:chExt cx="8514128" cy="984558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8514128" cy="9845581"/>
              <a:chOff x="0" y="0"/>
              <a:chExt cx="698500" cy="80772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13255"/>
                <a:ext cx="698500" cy="779940"/>
              </a:xfrm>
              <a:custGeom>
                <a:avLst/>
                <a:gdLst/>
                <a:ahLst/>
                <a:cxnLst/>
                <a:rect l="l" t="t" r="r" b="b"/>
                <a:pathLst>
                  <a:path w="698500" h="779940">
                    <a:moveTo>
                      <a:pt x="392021" y="11475"/>
                    </a:moveTo>
                    <a:lnTo>
                      <a:pt x="655729" y="163945"/>
                    </a:lnTo>
                    <a:cubicBezTo>
                      <a:pt x="682198" y="179250"/>
                      <a:pt x="698500" y="207505"/>
                      <a:pt x="698500" y="238081"/>
                    </a:cubicBezTo>
                    <a:lnTo>
                      <a:pt x="698500" y="541859"/>
                    </a:lnTo>
                    <a:cubicBezTo>
                      <a:pt x="698500" y="572434"/>
                      <a:pt x="682198" y="600690"/>
                      <a:pt x="655729" y="615995"/>
                    </a:cubicBezTo>
                    <a:lnTo>
                      <a:pt x="392021" y="768465"/>
                    </a:lnTo>
                    <a:cubicBezTo>
                      <a:pt x="365559" y="783765"/>
                      <a:pt x="332941" y="783765"/>
                      <a:pt x="306479" y="768465"/>
                    </a:cubicBezTo>
                    <a:lnTo>
                      <a:pt x="42771" y="615995"/>
                    </a:lnTo>
                    <a:cubicBezTo>
                      <a:pt x="16302" y="600690"/>
                      <a:pt x="0" y="572434"/>
                      <a:pt x="0" y="541859"/>
                    </a:cubicBezTo>
                    <a:lnTo>
                      <a:pt x="0" y="238081"/>
                    </a:lnTo>
                    <a:cubicBezTo>
                      <a:pt x="0" y="207505"/>
                      <a:pt x="16302" y="179250"/>
                      <a:pt x="42771" y="163945"/>
                    </a:cubicBezTo>
                    <a:lnTo>
                      <a:pt x="306479" y="11475"/>
                    </a:lnTo>
                    <a:cubicBezTo>
                      <a:pt x="332941" y="-3825"/>
                      <a:pt x="365559" y="-3825"/>
                      <a:pt x="392021" y="11475"/>
                    </a:cubicBezTo>
                    <a:close/>
                  </a:path>
                </a:pathLst>
              </a:custGeom>
              <a:solidFill>
                <a:srgbClr val="88A201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93716" y="109645"/>
                <a:ext cx="511068" cy="549099"/>
              </a:xfrm>
              <a:prstGeom prst="rect">
                <a:avLst/>
              </a:prstGeom>
            </p:spPr>
            <p:txBody>
              <a:bodyPr lIns="48041" tIns="48041" rIns="48041" bIns="48041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788922" y="849260"/>
              <a:ext cx="6983254" cy="8125968"/>
              <a:chOff x="0" y="0"/>
              <a:chExt cx="6985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16248"/>
                <a:ext cx="698500" cy="780303"/>
              </a:xfrm>
              <a:custGeom>
                <a:avLst/>
                <a:gdLst/>
                <a:ahLst/>
                <a:cxnLst/>
                <a:rect l="l" t="t" r="r" b="b"/>
                <a:pathLst>
                  <a:path w="698500" h="780303">
                    <a:moveTo>
                      <a:pt x="401316" y="14045"/>
                    </a:moveTo>
                    <a:lnTo>
                      <a:pt x="646434" y="156659"/>
                    </a:lnTo>
                    <a:cubicBezTo>
                      <a:pt x="678669" y="175414"/>
                      <a:pt x="698500" y="209895"/>
                      <a:pt x="698500" y="247189"/>
                    </a:cubicBezTo>
                    <a:lnTo>
                      <a:pt x="698500" y="533115"/>
                    </a:lnTo>
                    <a:cubicBezTo>
                      <a:pt x="698500" y="570409"/>
                      <a:pt x="678669" y="604890"/>
                      <a:pt x="646434" y="623645"/>
                    </a:cubicBezTo>
                    <a:lnTo>
                      <a:pt x="401316" y="766259"/>
                    </a:lnTo>
                    <a:cubicBezTo>
                      <a:pt x="369131" y="784985"/>
                      <a:pt x="329369" y="784985"/>
                      <a:pt x="297184" y="766259"/>
                    </a:cubicBezTo>
                    <a:lnTo>
                      <a:pt x="52066" y="623645"/>
                    </a:lnTo>
                    <a:cubicBezTo>
                      <a:pt x="19831" y="604890"/>
                      <a:pt x="0" y="570409"/>
                      <a:pt x="0" y="533115"/>
                    </a:cubicBezTo>
                    <a:lnTo>
                      <a:pt x="0" y="247189"/>
                    </a:lnTo>
                    <a:cubicBezTo>
                      <a:pt x="0" y="209895"/>
                      <a:pt x="19831" y="175414"/>
                      <a:pt x="52066" y="156659"/>
                    </a:cubicBezTo>
                    <a:lnTo>
                      <a:pt x="297184" y="14045"/>
                    </a:lnTo>
                    <a:cubicBezTo>
                      <a:pt x="329369" y="-4681"/>
                      <a:pt x="369131" y="-4681"/>
                      <a:pt x="401316" y="14045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-33707" r="-33707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8" name="Group 8"/>
          <p:cNvGrpSpPr/>
          <p:nvPr/>
        </p:nvGrpSpPr>
        <p:grpSpPr>
          <a:xfrm>
            <a:off x="10028620" y="565877"/>
            <a:ext cx="2718279" cy="3464378"/>
            <a:chOff x="0" y="0"/>
            <a:chExt cx="633777" cy="807720"/>
          </a:xfrm>
        </p:grpSpPr>
        <p:sp>
          <p:nvSpPr>
            <p:cNvPr id="9" name="Freeform 9"/>
            <p:cNvSpPr/>
            <p:nvPr/>
          </p:nvSpPr>
          <p:spPr>
            <a:xfrm>
              <a:off x="0" y="14271"/>
              <a:ext cx="633777" cy="777908"/>
            </a:xfrm>
            <a:custGeom>
              <a:avLst/>
              <a:gdLst/>
              <a:ahLst/>
              <a:cxnLst/>
              <a:rect l="l" t="t" r="r" b="b"/>
              <a:pathLst>
                <a:path w="633777" h="777908">
                  <a:moveTo>
                    <a:pt x="358171" y="12035"/>
                  </a:moveTo>
                  <a:lnTo>
                    <a:pt x="592494" y="161353"/>
                  </a:lnTo>
                  <a:cubicBezTo>
                    <a:pt x="618209" y="177739"/>
                    <a:pt x="633777" y="206119"/>
                    <a:pt x="633777" y="236611"/>
                  </a:cubicBezTo>
                  <a:lnTo>
                    <a:pt x="633777" y="541297"/>
                  </a:lnTo>
                  <a:cubicBezTo>
                    <a:pt x="633777" y="571789"/>
                    <a:pt x="618209" y="600169"/>
                    <a:pt x="592494" y="616555"/>
                  </a:cubicBezTo>
                  <a:lnTo>
                    <a:pt x="358171" y="765873"/>
                  </a:lnTo>
                  <a:cubicBezTo>
                    <a:pt x="332988" y="781920"/>
                    <a:pt x="300788" y="781920"/>
                    <a:pt x="275606" y="765873"/>
                  </a:cubicBezTo>
                  <a:lnTo>
                    <a:pt x="41282" y="616555"/>
                  </a:lnTo>
                  <a:cubicBezTo>
                    <a:pt x="15568" y="600169"/>
                    <a:pt x="0" y="571789"/>
                    <a:pt x="0" y="541297"/>
                  </a:cubicBezTo>
                  <a:lnTo>
                    <a:pt x="0" y="236611"/>
                  </a:lnTo>
                  <a:cubicBezTo>
                    <a:pt x="0" y="206119"/>
                    <a:pt x="15568" y="177739"/>
                    <a:pt x="41282" y="161353"/>
                  </a:cubicBezTo>
                  <a:lnTo>
                    <a:pt x="275606" y="12035"/>
                  </a:lnTo>
                  <a:cubicBezTo>
                    <a:pt x="300788" y="-4012"/>
                    <a:pt x="332988" y="-4012"/>
                    <a:pt x="358171" y="12035"/>
                  </a:cubicBezTo>
                  <a:close/>
                </a:path>
              </a:pathLst>
            </a:custGeom>
            <a:ln w="257175" cap="sq">
              <a:solidFill>
                <a:srgbClr val="2E6417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5032" y="109645"/>
              <a:ext cx="463712" cy="549099"/>
            </a:xfrm>
            <a:prstGeom prst="rect">
              <a:avLst/>
            </a:prstGeom>
          </p:spPr>
          <p:txBody>
            <a:bodyPr lIns="48041" tIns="48041" rIns="48041" bIns="48041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953493" y="4773026"/>
            <a:ext cx="5162189" cy="5969461"/>
            <a:chOff x="0" y="0"/>
            <a:chExt cx="6882919" cy="7959281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6882919" cy="7959281"/>
              <a:chOff x="0" y="0"/>
              <a:chExt cx="698500" cy="80772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13255"/>
                <a:ext cx="698500" cy="779940"/>
              </a:xfrm>
              <a:custGeom>
                <a:avLst/>
                <a:gdLst/>
                <a:ahLst/>
                <a:cxnLst/>
                <a:rect l="l" t="t" r="r" b="b"/>
                <a:pathLst>
                  <a:path w="698500" h="779940">
                    <a:moveTo>
                      <a:pt x="392021" y="11475"/>
                    </a:moveTo>
                    <a:lnTo>
                      <a:pt x="655729" y="163945"/>
                    </a:lnTo>
                    <a:cubicBezTo>
                      <a:pt x="682198" y="179250"/>
                      <a:pt x="698500" y="207505"/>
                      <a:pt x="698500" y="238081"/>
                    </a:cubicBezTo>
                    <a:lnTo>
                      <a:pt x="698500" y="541859"/>
                    </a:lnTo>
                    <a:cubicBezTo>
                      <a:pt x="698500" y="572434"/>
                      <a:pt x="682198" y="600690"/>
                      <a:pt x="655729" y="615995"/>
                    </a:cubicBezTo>
                    <a:lnTo>
                      <a:pt x="392021" y="768465"/>
                    </a:lnTo>
                    <a:cubicBezTo>
                      <a:pt x="365559" y="783765"/>
                      <a:pt x="332941" y="783765"/>
                      <a:pt x="306479" y="768465"/>
                    </a:cubicBezTo>
                    <a:lnTo>
                      <a:pt x="42771" y="615995"/>
                    </a:lnTo>
                    <a:cubicBezTo>
                      <a:pt x="16302" y="600690"/>
                      <a:pt x="0" y="572434"/>
                      <a:pt x="0" y="541859"/>
                    </a:cubicBezTo>
                    <a:lnTo>
                      <a:pt x="0" y="238081"/>
                    </a:lnTo>
                    <a:cubicBezTo>
                      <a:pt x="0" y="207505"/>
                      <a:pt x="16302" y="179250"/>
                      <a:pt x="42771" y="163945"/>
                    </a:cubicBezTo>
                    <a:lnTo>
                      <a:pt x="306479" y="11475"/>
                    </a:lnTo>
                    <a:cubicBezTo>
                      <a:pt x="332941" y="-3825"/>
                      <a:pt x="365559" y="-3825"/>
                      <a:pt x="392021" y="11475"/>
                    </a:cubicBezTo>
                    <a:close/>
                  </a:path>
                </a:pathLst>
              </a:custGeom>
              <a:solidFill>
                <a:srgbClr val="88A201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3716" y="109645"/>
                <a:ext cx="511068" cy="549099"/>
              </a:xfrm>
              <a:prstGeom prst="rect">
                <a:avLst/>
              </a:prstGeom>
            </p:spPr>
            <p:txBody>
              <a:bodyPr lIns="48041" tIns="48041" rIns="48041" bIns="48041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618788" y="695077"/>
              <a:ext cx="5645343" cy="6569126"/>
              <a:chOff x="0" y="0"/>
              <a:chExt cx="6985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16248"/>
                <a:ext cx="698500" cy="780303"/>
              </a:xfrm>
              <a:custGeom>
                <a:avLst/>
                <a:gdLst/>
                <a:ahLst/>
                <a:cxnLst/>
                <a:rect l="l" t="t" r="r" b="b"/>
                <a:pathLst>
                  <a:path w="698500" h="780303">
                    <a:moveTo>
                      <a:pt x="401316" y="14045"/>
                    </a:moveTo>
                    <a:lnTo>
                      <a:pt x="646434" y="156659"/>
                    </a:lnTo>
                    <a:cubicBezTo>
                      <a:pt x="678669" y="175414"/>
                      <a:pt x="698500" y="209895"/>
                      <a:pt x="698500" y="247189"/>
                    </a:cubicBezTo>
                    <a:lnTo>
                      <a:pt x="698500" y="533115"/>
                    </a:lnTo>
                    <a:cubicBezTo>
                      <a:pt x="698500" y="570409"/>
                      <a:pt x="678669" y="604890"/>
                      <a:pt x="646434" y="623645"/>
                    </a:cubicBezTo>
                    <a:lnTo>
                      <a:pt x="401316" y="766259"/>
                    </a:lnTo>
                    <a:cubicBezTo>
                      <a:pt x="369131" y="784985"/>
                      <a:pt x="329369" y="784985"/>
                      <a:pt x="297184" y="766259"/>
                    </a:cubicBezTo>
                    <a:lnTo>
                      <a:pt x="52066" y="623645"/>
                    </a:lnTo>
                    <a:cubicBezTo>
                      <a:pt x="19831" y="604890"/>
                      <a:pt x="0" y="570409"/>
                      <a:pt x="0" y="533115"/>
                    </a:cubicBezTo>
                    <a:lnTo>
                      <a:pt x="0" y="247189"/>
                    </a:lnTo>
                    <a:cubicBezTo>
                      <a:pt x="0" y="209895"/>
                      <a:pt x="19831" y="175414"/>
                      <a:pt x="52066" y="156659"/>
                    </a:cubicBezTo>
                    <a:lnTo>
                      <a:pt x="297184" y="14045"/>
                    </a:lnTo>
                    <a:cubicBezTo>
                      <a:pt x="329369" y="-4681"/>
                      <a:pt x="369131" y="-4681"/>
                      <a:pt x="401316" y="14045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-33707" r="-33707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20" name="Group 20"/>
          <p:cNvGrpSpPr/>
          <p:nvPr/>
        </p:nvGrpSpPr>
        <p:grpSpPr>
          <a:xfrm>
            <a:off x="14544413" y="5392822"/>
            <a:ext cx="6598056" cy="8409056"/>
            <a:chOff x="0" y="0"/>
            <a:chExt cx="633777" cy="807720"/>
          </a:xfrm>
        </p:grpSpPr>
        <p:sp>
          <p:nvSpPr>
            <p:cNvPr id="21" name="Freeform 21"/>
            <p:cNvSpPr/>
            <p:nvPr/>
          </p:nvSpPr>
          <p:spPr>
            <a:xfrm>
              <a:off x="0" y="15874"/>
              <a:ext cx="633777" cy="774701"/>
            </a:xfrm>
            <a:custGeom>
              <a:avLst/>
              <a:gdLst/>
              <a:ahLst/>
              <a:cxnLst/>
              <a:rect l="l" t="t" r="r" b="b"/>
              <a:pathLst>
                <a:path w="633777" h="774701">
                  <a:moveTo>
                    <a:pt x="362809" y="13388"/>
                  </a:moveTo>
                  <a:lnTo>
                    <a:pt x="587856" y="156794"/>
                  </a:lnTo>
                  <a:cubicBezTo>
                    <a:pt x="616460" y="175021"/>
                    <a:pt x="633777" y="206590"/>
                    <a:pt x="633777" y="240507"/>
                  </a:cubicBezTo>
                  <a:lnTo>
                    <a:pt x="633777" y="534195"/>
                  </a:lnTo>
                  <a:cubicBezTo>
                    <a:pt x="633777" y="568112"/>
                    <a:pt x="616460" y="599681"/>
                    <a:pt x="587856" y="617908"/>
                  </a:cubicBezTo>
                  <a:lnTo>
                    <a:pt x="362809" y="761314"/>
                  </a:lnTo>
                  <a:cubicBezTo>
                    <a:pt x="334797" y="779164"/>
                    <a:pt x="298980" y="779164"/>
                    <a:pt x="270968" y="761314"/>
                  </a:cubicBezTo>
                  <a:lnTo>
                    <a:pt x="45921" y="617908"/>
                  </a:lnTo>
                  <a:cubicBezTo>
                    <a:pt x="17317" y="599681"/>
                    <a:pt x="0" y="568112"/>
                    <a:pt x="0" y="534195"/>
                  </a:cubicBezTo>
                  <a:lnTo>
                    <a:pt x="0" y="240507"/>
                  </a:lnTo>
                  <a:cubicBezTo>
                    <a:pt x="0" y="206590"/>
                    <a:pt x="17317" y="175021"/>
                    <a:pt x="45921" y="156794"/>
                  </a:cubicBezTo>
                  <a:lnTo>
                    <a:pt x="270968" y="13388"/>
                  </a:lnTo>
                  <a:cubicBezTo>
                    <a:pt x="298980" y="-4462"/>
                    <a:pt x="334797" y="-4462"/>
                    <a:pt x="362809" y="13388"/>
                  </a:cubicBezTo>
                  <a:close/>
                </a:path>
              </a:pathLst>
            </a:custGeom>
            <a:ln w="600075" cap="rnd">
              <a:solidFill>
                <a:srgbClr val="2E6417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5032" y="109645"/>
              <a:ext cx="463712" cy="549099"/>
            </a:xfrm>
            <a:prstGeom prst="rect">
              <a:avLst/>
            </a:prstGeom>
          </p:spPr>
          <p:txBody>
            <a:bodyPr lIns="48041" tIns="48041" rIns="48041" bIns="48041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AutoShape 26"/>
          <p:cNvSpPr/>
          <p:nvPr/>
        </p:nvSpPr>
        <p:spPr>
          <a:xfrm flipV="1">
            <a:off x="2291099" y="5583358"/>
            <a:ext cx="6582054" cy="19050"/>
          </a:xfrm>
          <a:prstGeom prst="line">
            <a:avLst/>
          </a:prstGeom>
          <a:ln w="123825" cap="flat">
            <a:solidFill>
              <a:srgbClr val="88A20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Box 27"/>
          <p:cNvSpPr txBox="1"/>
          <p:nvPr/>
        </p:nvSpPr>
        <p:spPr>
          <a:xfrm>
            <a:off x="759749" y="3425237"/>
            <a:ext cx="9511775" cy="16921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965"/>
              </a:lnSpc>
            </a:pPr>
            <a:r>
              <a:rPr lang="en-US" sz="11500" b="1">
                <a:solidFill>
                  <a:srgbClr val="2F5D1B"/>
                </a:solidFill>
                <a:latin typeface="Times New Roman" panose="02020603050405020304" pitchFamily="18" charset="0"/>
                <a:ea typeface="Bernoru"/>
                <a:cs typeface="Times New Roman" panose="02020603050405020304" pitchFamily="18" charset="0"/>
                <a:sym typeface="Bernoru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e851158-5efe-43d8-a434-47d551d5193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E7A770A4CB5249A64F357105E83653" ma:contentTypeVersion="6" ma:contentTypeDescription="Create a new document." ma:contentTypeScope="" ma:versionID="96f3b78074ac03eb3e1e56517c759e9a">
  <xsd:schema xmlns:xsd="http://www.w3.org/2001/XMLSchema" xmlns:xs="http://www.w3.org/2001/XMLSchema" xmlns:p="http://schemas.microsoft.com/office/2006/metadata/properties" xmlns:ns3="7e851158-5efe-43d8-a434-47d551d5193e" targetNamespace="http://schemas.microsoft.com/office/2006/metadata/properties" ma:root="true" ma:fieldsID="cb6c788aa9d29cec849cc290e702915c" ns3:_="">
    <xsd:import namespace="7e851158-5efe-43d8-a434-47d551d5193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851158-5efe-43d8-a434-47d551d5193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E968CD4-0EE4-4593-B641-365C49DDAD8A}">
  <ds:schemaRefs>
    <ds:schemaRef ds:uri="7e851158-5efe-43d8-a434-47d551d5193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0548170-0FB7-4564-8697-F0062A44F36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ED75BC5-6358-4646-AD49-16D17462EF68}">
  <ds:schemaRefs>
    <ds:schemaRef ds:uri="7e851158-5efe-43d8-a434-47d551d5193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15</Slides>
  <Notes>15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and White Modern Geometric Pharmaceutical Presentation</dc:title>
  <cp:revision>74</cp:revision>
  <dcterms:created xsi:type="dcterms:W3CDTF">2006-08-16T00:00:00Z</dcterms:created>
  <dcterms:modified xsi:type="dcterms:W3CDTF">2026-10-17T06:27:34Z</dcterms:modified>
  <dc:identifier>DAHW7_UoD4U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0x010100E6E7A770A4CB5249A64F357105E83653</vt:lpwstr>
  </property>
</Properties>
</file>